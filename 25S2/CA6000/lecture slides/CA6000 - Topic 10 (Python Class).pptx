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20"/>
  </p:notesMasterIdLst>
  <p:sldIdLst>
    <p:sldId id="849" r:id="rId2"/>
    <p:sldId id="406" r:id="rId3"/>
    <p:sldId id="874" r:id="rId4"/>
    <p:sldId id="907" r:id="rId5"/>
    <p:sldId id="935" r:id="rId6"/>
    <p:sldId id="850" r:id="rId7"/>
    <p:sldId id="908" r:id="rId8"/>
    <p:sldId id="936" r:id="rId9"/>
    <p:sldId id="959" r:id="rId10"/>
    <p:sldId id="966" r:id="rId11"/>
    <p:sldId id="963" r:id="rId12"/>
    <p:sldId id="964" r:id="rId13"/>
    <p:sldId id="962" r:id="rId14"/>
    <p:sldId id="960" r:id="rId15"/>
    <p:sldId id="939" r:id="rId16"/>
    <p:sldId id="940" r:id="rId17"/>
    <p:sldId id="965" r:id="rId18"/>
    <p:sldId id="938" r:id="rId19"/>
  </p:sldIdLst>
  <p:sldSz cx="12192000" cy="6858000"/>
  <p:notesSz cx="9601200" cy="15087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96D9313-009C-4DB8-8D6E-ABA823BFDF52}">
          <p14:sldIdLst>
            <p14:sldId id="849"/>
            <p14:sldId id="406"/>
            <p14:sldId id="874"/>
            <p14:sldId id="907"/>
            <p14:sldId id="935"/>
            <p14:sldId id="850"/>
            <p14:sldId id="908"/>
            <p14:sldId id="936"/>
            <p14:sldId id="959"/>
            <p14:sldId id="966"/>
            <p14:sldId id="963"/>
          </p14:sldIdLst>
        </p14:section>
        <p14:section name="Untitled Section" id="{6F4DCACF-6ACA-480E-A44F-9697B1B659B3}">
          <p14:sldIdLst>
            <p14:sldId id="964"/>
            <p14:sldId id="962"/>
            <p14:sldId id="960"/>
            <p14:sldId id="939"/>
            <p14:sldId id="940"/>
            <p14:sldId id="965"/>
            <p14:sldId id="9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551" autoAdjust="0"/>
  </p:normalViewPr>
  <p:slideViewPr>
    <p:cSldViewPr snapToGrid="0">
      <p:cViewPr varScale="1">
        <p:scale>
          <a:sx n="57" d="100"/>
          <a:sy n="57" d="100"/>
        </p:scale>
        <p:origin x="101" y="11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757000"/>
          </a:xfrm>
          <a:prstGeom prst="rect">
            <a:avLst/>
          </a:prstGeom>
        </p:spPr>
        <p:txBody>
          <a:bodyPr vert="horz" lIns="141074" tIns="70537" rIns="141074" bIns="70537" rtlCol="0"/>
          <a:lstStyle>
            <a:lvl1pPr algn="l">
              <a:defRPr sz="1900"/>
            </a:lvl1pPr>
          </a:lstStyle>
          <a:p>
            <a:endParaRPr lang="en-US"/>
          </a:p>
        </p:txBody>
      </p:sp>
      <p:sp>
        <p:nvSpPr>
          <p:cNvPr id="3" name="Date Placeholder 2"/>
          <p:cNvSpPr>
            <a:spLocks noGrp="1"/>
          </p:cNvSpPr>
          <p:nvPr>
            <p:ph type="dt" idx="1"/>
          </p:nvPr>
        </p:nvSpPr>
        <p:spPr>
          <a:xfrm>
            <a:off x="5438459" y="0"/>
            <a:ext cx="4160520" cy="757000"/>
          </a:xfrm>
          <a:prstGeom prst="rect">
            <a:avLst/>
          </a:prstGeom>
        </p:spPr>
        <p:txBody>
          <a:bodyPr vert="horz" lIns="141074" tIns="70537" rIns="141074" bIns="70537" rtlCol="0"/>
          <a:lstStyle>
            <a:lvl1pPr algn="r">
              <a:defRPr sz="1900"/>
            </a:lvl1pPr>
          </a:lstStyle>
          <a:p>
            <a:fld id="{2A0C696A-1800-4CD7-8A62-3AA0AB5AA086}" type="datetimeFigureOut">
              <a:rPr lang="en-US" smtClean="0"/>
              <a:t>12/2/2025</a:t>
            </a:fld>
            <a:endParaRPr lang="en-US"/>
          </a:p>
        </p:txBody>
      </p:sp>
      <p:sp>
        <p:nvSpPr>
          <p:cNvPr id="4" name="Slide Image Placeholder 3"/>
          <p:cNvSpPr>
            <a:spLocks noGrp="1" noRot="1" noChangeAspect="1"/>
          </p:cNvSpPr>
          <p:nvPr>
            <p:ph type="sldImg" idx="2"/>
          </p:nvPr>
        </p:nvSpPr>
        <p:spPr>
          <a:xfrm>
            <a:off x="274638" y="1885950"/>
            <a:ext cx="9051925" cy="5092700"/>
          </a:xfrm>
          <a:prstGeom prst="rect">
            <a:avLst/>
          </a:prstGeom>
          <a:noFill/>
          <a:ln w="12700">
            <a:solidFill>
              <a:prstClr val="black"/>
            </a:solidFill>
          </a:ln>
        </p:spPr>
        <p:txBody>
          <a:bodyPr vert="horz" lIns="141074" tIns="70537" rIns="141074" bIns="70537" rtlCol="0" anchor="ctr"/>
          <a:lstStyle/>
          <a:p>
            <a:endParaRPr lang="en-US"/>
          </a:p>
        </p:txBody>
      </p:sp>
      <p:sp>
        <p:nvSpPr>
          <p:cNvPr id="5" name="Notes Placeholder 4"/>
          <p:cNvSpPr>
            <a:spLocks noGrp="1"/>
          </p:cNvSpPr>
          <p:nvPr>
            <p:ph type="body" sz="quarter" idx="3"/>
          </p:nvPr>
        </p:nvSpPr>
        <p:spPr>
          <a:xfrm>
            <a:off x="960120" y="7260907"/>
            <a:ext cx="7680960" cy="5940743"/>
          </a:xfrm>
          <a:prstGeom prst="rect">
            <a:avLst/>
          </a:prstGeom>
        </p:spPr>
        <p:txBody>
          <a:bodyPr vert="horz" lIns="141074" tIns="70537" rIns="141074" bIns="7053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4330603"/>
            <a:ext cx="4160520" cy="756999"/>
          </a:xfrm>
          <a:prstGeom prst="rect">
            <a:avLst/>
          </a:prstGeom>
        </p:spPr>
        <p:txBody>
          <a:bodyPr vert="horz" lIns="141074" tIns="70537" rIns="141074" bIns="70537" rtlCol="0" anchor="b"/>
          <a:lstStyle>
            <a:lvl1pPr algn="l">
              <a:defRPr sz="1900"/>
            </a:lvl1pPr>
          </a:lstStyle>
          <a:p>
            <a:endParaRPr lang="en-US"/>
          </a:p>
        </p:txBody>
      </p:sp>
      <p:sp>
        <p:nvSpPr>
          <p:cNvPr id="7" name="Slide Number Placeholder 6"/>
          <p:cNvSpPr>
            <a:spLocks noGrp="1"/>
          </p:cNvSpPr>
          <p:nvPr>
            <p:ph type="sldNum" sz="quarter" idx="5"/>
          </p:nvPr>
        </p:nvSpPr>
        <p:spPr>
          <a:xfrm>
            <a:off x="5438459" y="14330603"/>
            <a:ext cx="4160520" cy="756999"/>
          </a:xfrm>
          <a:prstGeom prst="rect">
            <a:avLst/>
          </a:prstGeom>
        </p:spPr>
        <p:txBody>
          <a:bodyPr vert="horz" lIns="141074" tIns="70537" rIns="141074" bIns="70537" rtlCol="0" anchor="b"/>
          <a:lstStyle>
            <a:lvl1pPr algn="r">
              <a:defRPr sz="1900"/>
            </a:lvl1pPr>
          </a:lstStyle>
          <a:p>
            <a:fld id="{1C1AF8F2-CE65-4867-9E7B-FB53AA03DEA1}" type="slidenum">
              <a:rPr lang="en-US" smtClean="0"/>
              <a:t>‹#›</a:t>
            </a:fld>
            <a:endParaRPr lang="en-US"/>
          </a:p>
        </p:txBody>
      </p:sp>
    </p:spTree>
    <p:extLst>
      <p:ext uri="{BB962C8B-B14F-4D97-AF65-F5344CB8AC3E}">
        <p14:creationId xmlns:p14="http://schemas.microsoft.com/office/powerpoint/2010/main" val="1695163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pandas.pydata.org/"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4638" y="1885950"/>
            <a:ext cx="9051925" cy="5092700"/>
          </a:xfrm>
        </p:spPr>
      </p:sp>
      <p:sp>
        <p:nvSpPr>
          <p:cNvPr id="3" name="Notes Placeholder 2"/>
          <p:cNvSpPr>
            <a:spLocks noGrp="1"/>
          </p:cNvSpPr>
          <p:nvPr>
            <p:ph type="body" idx="1"/>
          </p:nvPr>
        </p:nvSpPr>
        <p:spPr/>
        <p:txBody>
          <a:bodyPr/>
          <a:lstStyle/>
          <a:p>
            <a:pPr algn="l" fontAlgn="base">
              <a:buFont typeface="Arial" panose="020B0604020202020204" pitchFamily="34" charset="0"/>
              <a:buChar char="•"/>
            </a:pPr>
            <a:r>
              <a:rPr lang="en-SG" b="0" i="0" u="sng" dirty="0">
                <a:solidFill>
                  <a:srgbClr val="4183C4"/>
                </a:solidFill>
                <a:effectLst/>
                <a:latin typeface="inherit"/>
                <a:hlinkClick r:id="rId3"/>
              </a:rPr>
              <a:t>Pandas</a:t>
            </a:r>
            <a:r>
              <a:rPr lang="en-SG" b="0" i="0" dirty="0">
                <a:solidFill>
                  <a:srgbClr val="000000"/>
                </a:solidFill>
                <a:effectLst/>
                <a:latin typeface="inherit"/>
              </a:rPr>
              <a:t> is an open-source framework in Python to works with tabular data (rows and columns). pandas have DataFrame which is a two-dimensional data table and Series one dimensional. pandas will help you to explore, clean, and process your data in easy steps</a:t>
            </a:r>
          </a:p>
        </p:txBody>
      </p:sp>
      <p:sp>
        <p:nvSpPr>
          <p:cNvPr id="4" name="Slide Number Placeholder 3"/>
          <p:cNvSpPr>
            <a:spLocks noGrp="1"/>
          </p:cNvSpPr>
          <p:nvPr>
            <p:ph type="sldNum" sz="quarter" idx="10"/>
          </p:nvPr>
        </p:nvSpPr>
        <p:spPr/>
        <p:txBody>
          <a:bodyPr/>
          <a:lstStyle/>
          <a:p>
            <a:fld id="{1C1AF8F2-CE65-4867-9E7B-FB53AA03DEA1}" type="slidenum">
              <a:rPr lang="en-US" smtClean="0"/>
              <a:t>1</a:t>
            </a:fld>
            <a:endParaRPr lang="en-US" dirty="0"/>
          </a:p>
        </p:txBody>
      </p:sp>
    </p:spTree>
    <p:extLst>
      <p:ext uri="{BB962C8B-B14F-4D97-AF65-F5344CB8AC3E}">
        <p14:creationId xmlns:p14="http://schemas.microsoft.com/office/powerpoint/2010/main" val="216117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4638" y="1885950"/>
            <a:ext cx="9051925" cy="5092700"/>
          </a:xfrm>
        </p:spPr>
      </p:sp>
      <p:sp>
        <p:nvSpPr>
          <p:cNvPr id="3" name="Notes Placeholder 2"/>
          <p:cNvSpPr>
            <a:spLocks noGrp="1"/>
          </p:cNvSpPr>
          <p:nvPr>
            <p:ph type="body" idx="1"/>
          </p:nvPr>
        </p:nvSpPr>
        <p:spPr/>
        <p:txBody>
          <a:bodyPr/>
          <a:lstStyle/>
          <a:p>
            <a:r>
              <a:rPr lang="en-SG" b="0" i="0" dirty="0">
                <a:solidFill>
                  <a:srgbClr val="3D3B49"/>
                </a:solidFill>
                <a:effectLst/>
                <a:highlight>
                  <a:srgbClr val="FFFFFF"/>
                </a:highlight>
                <a:latin typeface="Noto serif" panose="02020600060500020200" pitchFamily="18" charset="0"/>
              </a:rPr>
              <a:t>Many of the data structures encounter in the remainder of this book are abstract data types—they’re pieces of code that are written on top of other built-in data structures.</a:t>
            </a:r>
            <a:endParaRPr lang="en-SG" dirty="0"/>
          </a:p>
        </p:txBody>
      </p:sp>
      <p:sp>
        <p:nvSpPr>
          <p:cNvPr id="4" name="Slide Number Placeholder 3"/>
          <p:cNvSpPr>
            <a:spLocks noGrp="1"/>
          </p:cNvSpPr>
          <p:nvPr>
            <p:ph type="sldNum" sz="quarter" idx="10"/>
          </p:nvPr>
        </p:nvSpPr>
        <p:spPr/>
        <p:txBody>
          <a:bodyPr/>
          <a:lstStyle/>
          <a:p>
            <a:fld id="{1C1AF8F2-CE65-4867-9E7B-FB53AA03DEA1}" type="slidenum">
              <a:rPr lang="en-US" smtClean="0"/>
              <a:t>2</a:t>
            </a:fld>
            <a:endParaRPr lang="en-US" dirty="0"/>
          </a:p>
        </p:txBody>
      </p:sp>
    </p:spTree>
    <p:extLst>
      <p:ext uri="{BB962C8B-B14F-4D97-AF65-F5344CB8AC3E}">
        <p14:creationId xmlns:p14="http://schemas.microsoft.com/office/powerpoint/2010/main" val="2200234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SG" b="0" i="0" dirty="0">
                <a:solidFill>
                  <a:srgbClr val="273239"/>
                </a:solidFill>
                <a:effectLst/>
                <a:latin typeface="Courier New" panose="02070309020205020404" pitchFamily="49" charset="0"/>
                <a:cs typeface="Courier New" panose="02070309020205020404" pitchFamily="49" charset="0"/>
              </a:rPr>
              <a:t># Creating an empty Dictionary</a:t>
            </a:r>
          </a:p>
          <a:p>
            <a:pPr algn="l" rtl="0" fontAlgn="base"/>
            <a:r>
              <a:rPr lang="en-SG" b="0" i="0" dirty="0">
                <a:solidFill>
                  <a:srgbClr val="273239"/>
                </a:solidFill>
                <a:effectLst/>
                <a:latin typeface="Courier New" panose="02070309020205020404" pitchFamily="49" charset="0"/>
                <a:cs typeface="Courier New" panose="02070309020205020404" pitchFamily="49" charset="0"/>
              </a:rPr>
              <a:t>Dict = {}</a:t>
            </a:r>
          </a:p>
          <a:p>
            <a:pPr algn="l" rtl="0" fontAlgn="base"/>
            <a:r>
              <a:rPr lang="en-SG" b="0" i="0" dirty="0">
                <a:solidFill>
                  <a:srgbClr val="273239"/>
                </a:solidFill>
                <a:effectLst/>
                <a:latin typeface="Courier New" panose="02070309020205020404" pitchFamily="49" charset="0"/>
                <a:cs typeface="Courier New" panose="02070309020205020404" pitchFamily="49" charset="0"/>
              </a:rPr>
              <a:t>print("Empty Dictionary: ")</a:t>
            </a:r>
          </a:p>
          <a:p>
            <a:pPr algn="l" rtl="0" fontAlgn="base"/>
            <a:r>
              <a:rPr lang="en-SG" b="0" i="0" dirty="0">
                <a:solidFill>
                  <a:srgbClr val="273239"/>
                </a:solidFill>
                <a:effectLst/>
                <a:latin typeface="Courier New" panose="02070309020205020404" pitchFamily="49" charset="0"/>
                <a:cs typeface="Courier New" panose="02070309020205020404" pitchFamily="49" charset="0"/>
              </a:rPr>
              <a:t>print(Dict)</a:t>
            </a:r>
          </a:p>
          <a:p>
            <a:pPr algn="l" rtl="0" fontAlgn="base"/>
            <a:r>
              <a:rPr lang="en-SG" b="0" i="0" dirty="0">
                <a:solidFill>
                  <a:srgbClr val="273239"/>
                </a:solidFill>
                <a:effectLst/>
                <a:latin typeface="Courier New" panose="02070309020205020404" pitchFamily="49" charset="0"/>
                <a:cs typeface="Courier New" panose="02070309020205020404" pitchFamily="49" charset="0"/>
              </a:rPr>
              <a:t>  </a:t>
            </a:r>
          </a:p>
          <a:p>
            <a:pPr algn="l" rtl="0" fontAlgn="base"/>
            <a:r>
              <a:rPr lang="en-SG" b="0" i="0" dirty="0">
                <a:solidFill>
                  <a:srgbClr val="273239"/>
                </a:solidFill>
                <a:effectLst/>
                <a:latin typeface="Courier New" panose="02070309020205020404" pitchFamily="49" charset="0"/>
                <a:cs typeface="Courier New" panose="02070309020205020404" pitchFamily="49" charset="0"/>
              </a:rPr>
              <a:t># Creating a Dictionary with dict() method</a:t>
            </a:r>
          </a:p>
          <a:p>
            <a:pPr algn="l" rtl="0" fontAlgn="base"/>
            <a:r>
              <a:rPr lang="en-SG" b="0" i="0" dirty="0">
                <a:solidFill>
                  <a:srgbClr val="273239"/>
                </a:solidFill>
                <a:effectLst/>
                <a:latin typeface="Courier New" panose="02070309020205020404" pitchFamily="49" charset="0"/>
                <a:cs typeface="Courier New" panose="02070309020205020404" pitchFamily="49" charset="0"/>
              </a:rPr>
              <a:t>Dict = dict({1: 'Geeks', 2: 'For', 3: 'Geeks'})</a:t>
            </a:r>
          </a:p>
          <a:p>
            <a:pPr algn="l" rtl="0" fontAlgn="base"/>
            <a:r>
              <a:rPr lang="en-SG" b="0" i="0" dirty="0">
                <a:solidFill>
                  <a:srgbClr val="273239"/>
                </a:solidFill>
                <a:effectLst/>
                <a:latin typeface="Courier New" panose="02070309020205020404" pitchFamily="49" charset="0"/>
                <a:cs typeface="Courier New" panose="02070309020205020404" pitchFamily="49" charset="0"/>
              </a:rPr>
              <a:t>print("\nDictionary with the use of dict(): ")</a:t>
            </a:r>
          </a:p>
          <a:p>
            <a:pPr algn="l" rtl="0" fontAlgn="base"/>
            <a:r>
              <a:rPr lang="en-SG" b="0" i="0" dirty="0">
                <a:solidFill>
                  <a:srgbClr val="273239"/>
                </a:solidFill>
                <a:effectLst/>
                <a:latin typeface="Courier New" panose="02070309020205020404" pitchFamily="49" charset="0"/>
                <a:cs typeface="Courier New" panose="02070309020205020404" pitchFamily="49" charset="0"/>
              </a:rPr>
              <a:t>print(Dict)</a:t>
            </a:r>
          </a:p>
          <a:p>
            <a:pPr algn="l" rtl="0" fontAlgn="base"/>
            <a:r>
              <a:rPr lang="en-SG" b="0" i="0" dirty="0">
                <a:solidFill>
                  <a:srgbClr val="273239"/>
                </a:solidFill>
                <a:effectLst/>
                <a:latin typeface="Courier New" panose="02070309020205020404" pitchFamily="49" charset="0"/>
                <a:cs typeface="Courier New" panose="02070309020205020404" pitchFamily="49" charset="0"/>
              </a:rPr>
              <a:t>  </a:t>
            </a:r>
          </a:p>
          <a:p>
            <a:pPr algn="l" rtl="0" fontAlgn="base"/>
            <a:r>
              <a:rPr lang="en-SG" b="0" i="0" dirty="0">
                <a:solidFill>
                  <a:srgbClr val="273239"/>
                </a:solidFill>
                <a:effectLst/>
                <a:latin typeface="Courier New" panose="02070309020205020404" pitchFamily="49" charset="0"/>
                <a:cs typeface="Courier New" panose="02070309020205020404" pitchFamily="49" charset="0"/>
              </a:rPr>
              <a:t># Creating a Dictionary</a:t>
            </a:r>
          </a:p>
          <a:p>
            <a:pPr algn="l" rtl="0" fontAlgn="base"/>
            <a:r>
              <a:rPr lang="en-SG" b="0" i="0" dirty="0">
                <a:solidFill>
                  <a:srgbClr val="273239"/>
                </a:solidFill>
                <a:effectLst/>
                <a:latin typeface="Courier New" panose="02070309020205020404" pitchFamily="49" charset="0"/>
                <a:cs typeface="Courier New" panose="02070309020205020404" pitchFamily="49" charset="0"/>
              </a:rPr>
              <a:t># with each item as a Pair</a:t>
            </a:r>
          </a:p>
          <a:p>
            <a:pPr algn="l" rtl="0" fontAlgn="base"/>
            <a:r>
              <a:rPr lang="en-SG" b="0" i="0" dirty="0">
                <a:solidFill>
                  <a:srgbClr val="273239"/>
                </a:solidFill>
                <a:effectLst/>
                <a:latin typeface="Courier New" panose="02070309020205020404" pitchFamily="49" charset="0"/>
                <a:cs typeface="Courier New" panose="02070309020205020404" pitchFamily="49" charset="0"/>
              </a:rPr>
              <a:t>Dict = dict([(1, 'Geeks'), (2, 'For')])</a:t>
            </a:r>
          </a:p>
          <a:p>
            <a:pPr algn="l" rtl="0" fontAlgn="base"/>
            <a:r>
              <a:rPr lang="en-SG" b="0" i="0" dirty="0">
                <a:solidFill>
                  <a:srgbClr val="273239"/>
                </a:solidFill>
                <a:effectLst/>
                <a:latin typeface="Courier New" panose="02070309020205020404" pitchFamily="49" charset="0"/>
                <a:cs typeface="Courier New" panose="02070309020205020404" pitchFamily="49" charset="0"/>
              </a:rPr>
              <a:t>print("\nDictionary with each item as a pair: ")</a:t>
            </a:r>
          </a:p>
          <a:p>
            <a:pPr algn="l" rtl="0" fontAlgn="base"/>
            <a:r>
              <a:rPr lang="en-SG" b="0" i="0" dirty="0">
                <a:solidFill>
                  <a:srgbClr val="273239"/>
                </a:solidFill>
                <a:effectLst/>
                <a:latin typeface="Courier New" panose="02070309020205020404" pitchFamily="49" charset="0"/>
                <a:cs typeface="Courier New" panose="02070309020205020404" pitchFamily="49" charset="0"/>
              </a:rPr>
              <a:t>print(Dict)</a:t>
            </a:r>
          </a:p>
          <a:p>
            <a:endParaRPr lang="en-SG"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5"/>
          </p:nvPr>
        </p:nvSpPr>
        <p:spPr/>
        <p:txBody>
          <a:bodyPr/>
          <a:lstStyle/>
          <a:p>
            <a:fld id="{1C1AF8F2-CE65-4867-9E7B-FB53AA03DEA1}" type="slidenum">
              <a:rPr lang="en-US" smtClean="0"/>
              <a:t>3</a:t>
            </a:fld>
            <a:endParaRPr lang="en-US" dirty="0"/>
          </a:p>
        </p:txBody>
      </p:sp>
    </p:spTree>
    <p:extLst>
      <p:ext uri="{BB962C8B-B14F-4D97-AF65-F5344CB8AC3E}">
        <p14:creationId xmlns:p14="http://schemas.microsoft.com/office/powerpoint/2010/main" val="2818932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WE capitalize the first letter of </a:t>
            </a:r>
            <a:r>
              <a:rPr lang="en-SG"/>
              <a:t>the class defined</a:t>
            </a:r>
            <a:endParaRPr lang="en-SG" dirty="0"/>
          </a:p>
        </p:txBody>
      </p:sp>
      <p:sp>
        <p:nvSpPr>
          <p:cNvPr id="4" name="Slide Number Placeholder 3"/>
          <p:cNvSpPr>
            <a:spLocks noGrp="1"/>
          </p:cNvSpPr>
          <p:nvPr>
            <p:ph type="sldNum" sz="quarter" idx="5"/>
          </p:nvPr>
        </p:nvSpPr>
        <p:spPr/>
        <p:txBody>
          <a:bodyPr/>
          <a:lstStyle/>
          <a:p>
            <a:fld id="{1C1AF8F2-CE65-4867-9E7B-FB53AA03DEA1}" type="slidenum">
              <a:rPr lang="en-US" smtClean="0"/>
              <a:t>4</a:t>
            </a:fld>
            <a:endParaRPr lang="en-US" dirty="0"/>
          </a:p>
        </p:txBody>
      </p:sp>
    </p:spTree>
    <p:extLst>
      <p:ext uri="{BB962C8B-B14F-4D97-AF65-F5344CB8AC3E}">
        <p14:creationId xmlns:p14="http://schemas.microsoft.com/office/powerpoint/2010/main" val="2941431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C1AF8F2-CE65-4867-9E7B-FB53AA03DEA1}" type="slidenum">
              <a:rPr lang="en-US" smtClean="0"/>
              <a:t>6</a:t>
            </a:fld>
            <a:endParaRPr lang="en-US" dirty="0"/>
          </a:p>
        </p:txBody>
      </p:sp>
    </p:spTree>
    <p:extLst>
      <p:ext uri="{BB962C8B-B14F-4D97-AF65-F5344CB8AC3E}">
        <p14:creationId xmlns:p14="http://schemas.microsoft.com/office/powerpoint/2010/main" val="4413279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C1AF8F2-CE65-4867-9E7B-FB53AA03DEA1}" type="slidenum">
              <a:rPr lang="en-US" smtClean="0"/>
              <a:t>7</a:t>
            </a:fld>
            <a:endParaRPr lang="en-US" dirty="0"/>
          </a:p>
        </p:txBody>
      </p:sp>
    </p:spTree>
    <p:extLst>
      <p:ext uri="{BB962C8B-B14F-4D97-AF65-F5344CB8AC3E}">
        <p14:creationId xmlns:p14="http://schemas.microsoft.com/office/powerpoint/2010/main" val="3898349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C1AF8F2-CE65-4867-9E7B-FB53AA03DEA1}" type="slidenum">
              <a:rPr lang="en-US" smtClean="0"/>
              <a:t>8</a:t>
            </a:fld>
            <a:endParaRPr lang="en-US" dirty="0"/>
          </a:p>
        </p:txBody>
      </p:sp>
    </p:spTree>
    <p:extLst>
      <p:ext uri="{BB962C8B-B14F-4D97-AF65-F5344CB8AC3E}">
        <p14:creationId xmlns:p14="http://schemas.microsoft.com/office/powerpoint/2010/main" val="3938738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700" dirty="0"/>
              <a:t>restricts direct access to an object's internal state, promoting controlled interaction through defined interfaces. </a:t>
            </a:r>
            <a:endParaRPr lang="en-SG" dirty="0"/>
          </a:p>
          <a:p>
            <a:endParaRPr lang="en-SG" dirty="0"/>
          </a:p>
          <a:p>
            <a:r>
              <a:rPr lang="en-SG" dirty="0"/>
              <a:t>This ensures that price is not accidentally modified in a way that could cause issues.</a:t>
            </a:r>
          </a:p>
          <a:p>
            <a:r>
              <a:rPr lang="en-SG" dirty="0"/>
              <a:t>https://www.freecodecamp.org/news/object-oriented-programming-in-python-interview-questions/</a:t>
            </a:r>
          </a:p>
        </p:txBody>
      </p:sp>
      <p:sp>
        <p:nvSpPr>
          <p:cNvPr id="4" name="Slide Number Placeholder 3"/>
          <p:cNvSpPr>
            <a:spLocks noGrp="1"/>
          </p:cNvSpPr>
          <p:nvPr>
            <p:ph type="sldNum" sz="quarter" idx="5"/>
          </p:nvPr>
        </p:nvSpPr>
        <p:spPr/>
        <p:txBody>
          <a:bodyPr/>
          <a:lstStyle/>
          <a:p>
            <a:fld id="{1C1AF8F2-CE65-4867-9E7B-FB53AA03DEA1}" type="slidenum">
              <a:rPr lang="en-US" smtClean="0"/>
              <a:t>9</a:t>
            </a:fld>
            <a:endParaRPr lang="en-US" dirty="0"/>
          </a:p>
        </p:txBody>
      </p:sp>
    </p:spTree>
    <p:extLst>
      <p:ext uri="{BB962C8B-B14F-4D97-AF65-F5344CB8AC3E}">
        <p14:creationId xmlns:p14="http://schemas.microsoft.com/office/powerpoint/2010/main" val="38307789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8BF94-C8E2-7FD8-AA74-51CBA20AEF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8041C8-B0C7-07E8-BE0B-4CFF00513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4015C7-9D5D-C89C-865A-37F4394749CA}"/>
              </a:ext>
            </a:extLst>
          </p:cNvPr>
          <p:cNvSpPr>
            <a:spLocks noGrp="1"/>
          </p:cNvSpPr>
          <p:nvPr>
            <p:ph type="body" idx="1"/>
          </p:nvPr>
        </p:nvSpPr>
        <p:spPr/>
        <p:txBody>
          <a:bodyPr/>
          <a:lstStyle/>
          <a:p>
            <a:r>
              <a:rPr lang="en-SG" sz="1800" dirty="0">
                <a:effectLst/>
              </a:rPr>
              <a:t>Double Leading Underscore (</a:t>
            </a:r>
            <a:r>
              <a:rPr lang="en-SG" sz="1200" kern="1200" dirty="0">
                <a:solidFill>
                  <a:schemeClr val="tx1"/>
                </a:solidFill>
                <a:effectLst/>
                <a:latin typeface="+mn-lt"/>
                <a:ea typeface="+mn-ea"/>
                <a:cs typeface="+mn-cs"/>
              </a:rPr>
              <a:t>__</a:t>
            </a:r>
            <a:r>
              <a:rPr lang="en-SG" sz="1200" kern="1200" dirty="0" err="1">
                <a:solidFill>
                  <a:schemeClr val="tx1"/>
                </a:solidFill>
                <a:effectLst/>
                <a:latin typeface="+mn-lt"/>
                <a:ea typeface="+mn-ea"/>
                <a:cs typeface="+mn-cs"/>
              </a:rPr>
              <a:t>variable_name</a:t>
            </a:r>
            <a:r>
              <a:rPr lang="en-SG" sz="1800" dirty="0">
                <a:effectLst/>
              </a:rPr>
              <a:t>): </a:t>
            </a:r>
          </a:p>
          <a:p>
            <a:r>
              <a:rPr lang="en-SG" sz="1800" dirty="0">
                <a:effectLst/>
              </a:rPr>
              <a:t>This triggers Python's name mangling mechanism. </a:t>
            </a:r>
          </a:p>
          <a:p>
            <a:r>
              <a:rPr lang="en-SG" sz="1800" dirty="0">
                <a:effectLst/>
              </a:rPr>
              <a:t>When an instance variable is prefixed with a double underscore, Python automatically renames it internally to </a:t>
            </a:r>
            <a:r>
              <a:rPr lang="en-SG" sz="1200" kern="1200" dirty="0">
                <a:solidFill>
                  <a:schemeClr val="tx1"/>
                </a:solidFill>
                <a:effectLst/>
                <a:latin typeface="+mn-lt"/>
                <a:ea typeface="+mn-ea"/>
                <a:cs typeface="+mn-cs"/>
              </a:rPr>
              <a:t>_</a:t>
            </a:r>
            <a:r>
              <a:rPr lang="en-SG" sz="1200" kern="1200" dirty="0" err="1">
                <a:solidFill>
                  <a:schemeClr val="tx1"/>
                </a:solidFill>
                <a:effectLst/>
                <a:latin typeface="+mn-lt"/>
                <a:ea typeface="+mn-ea"/>
                <a:cs typeface="+mn-cs"/>
              </a:rPr>
              <a:t>ClassName</a:t>
            </a:r>
            <a:r>
              <a:rPr lang="en-SG" sz="1200" kern="1200" dirty="0">
                <a:solidFill>
                  <a:schemeClr val="tx1"/>
                </a:solidFill>
                <a:effectLst/>
                <a:latin typeface="+mn-lt"/>
                <a:ea typeface="+mn-ea"/>
                <a:cs typeface="+mn-cs"/>
              </a:rPr>
              <a:t>__</a:t>
            </a:r>
            <a:r>
              <a:rPr lang="en-SG" sz="1200" kern="1200" dirty="0" err="1">
                <a:solidFill>
                  <a:schemeClr val="tx1"/>
                </a:solidFill>
                <a:effectLst/>
                <a:latin typeface="+mn-lt"/>
                <a:ea typeface="+mn-ea"/>
                <a:cs typeface="+mn-cs"/>
              </a:rPr>
              <a:t>variable_name</a:t>
            </a:r>
            <a:r>
              <a:rPr lang="en-SG" sz="1800" dirty="0">
                <a:effectLst/>
              </a:rPr>
              <a:t> (where </a:t>
            </a:r>
            <a:r>
              <a:rPr lang="en-SG" sz="1200" kern="1200" dirty="0" err="1">
                <a:solidFill>
                  <a:schemeClr val="tx1"/>
                </a:solidFill>
                <a:effectLst/>
                <a:latin typeface="+mn-lt"/>
                <a:ea typeface="+mn-ea"/>
                <a:cs typeface="+mn-cs"/>
              </a:rPr>
              <a:t>ClassName</a:t>
            </a:r>
            <a:r>
              <a:rPr lang="en-SG" sz="1800" dirty="0">
                <a:effectLst/>
              </a:rPr>
              <a:t> is the name of the class). </a:t>
            </a:r>
          </a:p>
          <a:p>
            <a:r>
              <a:rPr lang="en-SG" sz="1800" dirty="0">
                <a:effectLst/>
              </a:rPr>
              <a:t>This makes it harder, but not impossible, to access the variable directly from outside the class, as you would need to know the mangled name. It's primarily used to prevent naming conflicts in subclasses.</a:t>
            </a:r>
          </a:p>
          <a:p>
            <a:r>
              <a:rPr lang="en-SG" sz="1800" dirty="0">
                <a:effectLst/>
              </a:rPr>
              <a:t>E.g. print(instance._</a:t>
            </a:r>
            <a:r>
              <a:rPr lang="en-SG" sz="1800" dirty="0" err="1">
                <a:effectLst/>
              </a:rPr>
              <a:t>MyClass</a:t>
            </a:r>
            <a:r>
              <a:rPr lang="en-SG" sz="1800" dirty="0">
                <a:effectLst/>
              </a:rPr>
              <a:t>__</a:t>
            </a:r>
            <a:r>
              <a:rPr lang="en-SG" sz="1800" dirty="0" err="1">
                <a:effectLst/>
              </a:rPr>
              <a:t>private_sttr</a:t>
            </a:r>
            <a:r>
              <a:rPr lang="en-SG" sz="1800" dirty="0">
                <a:effectLst/>
              </a:rPr>
              <a:t>) # Accessible via name mangling (discouraged)</a:t>
            </a:r>
          </a:p>
        </p:txBody>
      </p:sp>
      <p:sp>
        <p:nvSpPr>
          <p:cNvPr id="4" name="Slide Number Placeholder 3">
            <a:extLst>
              <a:ext uri="{FF2B5EF4-FFF2-40B4-BE49-F238E27FC236}">
                <a16:creationId xmlns:a16="http://schemas.microsoft.com/office/drawing/2014/main" id="{3E71B6A8-48EA-7D52-9178-2C2A287FBF87}"/>
              </a:ext>
            </a:extLst>
          </p:cNvPr>
          <p:cNvSpPr>
            <a:spLocks noGrp="1"/>
          </p:cNvSpPr>
          <p:nvPr>
            <p:ph type="sldNum" sz="quarter" idx="5"/>
          </p:nvPr>
        </p:nvSpPr>
        <p:spPr/>
        <p:txBody>
          <a:bodyPr/>
          <a:lstStyle/>
          <a:p>
            <a:fld id="{1C1AF8F2-CE65-4867-9E7B-FB53AA03DEA1}" type="slidenum">
              <a:rPr lang="en-US" smtClean="0"/>
              <a:t>10</a:t>
            </a:fld>
            <a:endParaRPr lang="en-US" dirty="0"/>
          </a:p>
        </p:txBody>
      </p:sp>
    </p:spTree>
    <p:extLst>
      <p:ext uri="{BB962C8B-B14F-4D97-AF65-F5344CB8AC3E}">
        <p14:creationId xmlns:p14="http://schemas.microsoft.com/office/powerpoint/2010/main" val="722894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CCE81-F24D-CE62-BE1C-661E730BD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8B35B9-A6FB-143F-ECB6-D9CAAD9990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241388-FAB6-7775-99B7-6E58AE9D4C7A}"/>
              </a:ext>
            </a:extLst>
          </p:cNvPr>
          <p:cNvSpPr>
            <a:spLocks noGrp="1"/>
          </p:cNvSpPr>
          <p:nvPr>
            <p:ph type="body" idx="1"/>
          </p:nvPr>
        </p:nvSpPr>
        <p:spPr/>
        <p:txBody>
          <a:bodyPr/>
          <a:lstStyle/>
          <a:p>
            <a:r>
              <a:rPr lang="en-SG" dirty="0"/>
              <a:t>WE capitalize the first letter of </a:t>
            </a:r>
            <a:r>
              <a:rPr lang="en-SG"/>
              <a:t>the class defined</a:t>
            </a:r>
            <a:endParaRPr lang="en-SG" dirty="0"/>
          </a:p>
        </p:txBody>
      </p:sp>
      <p:sp>
        <p:nvSpPr>
          <p:cNvPr id="4" name="Slide Number Placeholder 3">
            <a:extLst>
              <a:ext uri="{FF2B5EF4-FFF2-40B4-BE49-F238E27FC236}">
                <a16:creationId xmlns:a16="http://schemas.microsoft.com/office/drawing/2014/main" id="{25E5A045-DEBF-3E11-47D4-1F0FA52F219B}"/>
              </a:ext>
            </a:extLst>
          </p:cNvPr>
          <p:cNvSpPr>
            <a:spLocks noGrp="1"/>
          </p:cNvSpPr>
          <p:nvPr>
            <p:ph type="sldNum" sz="quarter" idx="5"/>
          </p:nvPr>
        </p:nvSpPr>
        <p:spPr/>
        <p:txBody>
          <a:bodyPr/>
          <a:lstStyle/>
          <a:p>
            <a:fld id="{1C1AF8F2-CE65-4867-9E7B-FB53AA03DEA1}" type="slidenum">
              <a:rPr lang="en-US" smtClean="0"/>
              <a:t>11</a:t>
            </a:fld>
            <a:endParaRPr lang="en-US" dirty="0"/>
          </a:p>
        </p:txBody>
      </p:sp>
    </p:spTree>
    <p:extLst>
      <p:ext uri="{BB962C8B-B14F-4D97-AF65-F5344CB8AC3E}">
        <p14:creationId xmlns:p14="http://schemas.microsoft.com/office/powerpoint/2010/main" val="4292456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C4035-917A-39E5-8AD3-197C831C5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A314D-90EB-1EC9-A590-CD9A854983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EDCF0-8CC3-6FBE-291B-24EAE871119E}"/>
              </a:ext>
            </a:extLst>
          </p:cNvPr>
          <p:cNvSpPr>
            <a:spLocks noGrp="1"/>
          </p:cNvSpPr>
          <p:nvPr>
            <p:ph type="body" idx="1"/>
          </p:nvPr>
        </p:nvSpPr>
        <p:spPr/>
        <p:txBody>
          <a:bodyPr/>
          <a:lstStyle/>
          <a:p>
            <a:r>
              <a:rPr lang="en-SG" dirty="0">
                <a:effectLst/>
              </a:rPr>
              <a:t>Explanation: </a:t>
            </a:r>
          </a:p>
          <a:p>
            <a:r>
              <a:rPr lang="en-SG" sz="1200" kern="1200" dirty="0">
                <a:solidFill>
                  <a:schemeClr val="tx1"/>
                </a:solidFill>
                <a:effectLst/>
                <a:latin typeface="+mn-lt"/>
                <a:ea typeface="+mn-ea"/>
                <a:cs typeface="+mn-cs"/>
              </a:rPr>
              <a:t>Vector</a:t>
            </a:r>
            <a:r>
              <a:rPr lang="en-SG" dirty="0">
                <a:effectLst/>
              </a:rPr>
              <a:t> Class: This class represents a 2D vector with </a:t>
            </a:r>
            <a:r>
              <a:rPr lang="en-SG" sz="1200" kern="1200" dirty="0">
                <a:solidFill>
                  <a:schemeClr val="tx1"/>
                </a:solidFill>
                <a:effectLst/>
                <a:latin typeface="+mn-lt"/>
                <a:ea typeface="+mn-ea"/>
                <a:cs typeface="+mn-cs"/>
              </a:rPr>
              <a:t>x</a:t>
            </a:r>
            <a:r>
              <a:rPr lang="en-SG" dirty="0">
                <a:effectLst/>
              </a:rPr>
              <a:t> and </a:t>
            </a:r>
            <a:r>
              <a:rPr lang="en-SG" sz="1200" kern="1200" dirty="0">
                <a:solidFill>
                  <a:schemeClr val="tx1"/>
                </a:solidFill>
                <a:effectLst/>
                <a:latin typeface="+mn-lt"/>
                <a:ea typeface="+mn-ea"/>
                <a:cs typeface="+mn-cs"/>
              </a:rPr>
              <a:t>y</a:t>
            </a:r>
            <a:r>
              <a:rPr lang="en-SG" dirty="0">
                <a:effectLst/>
              </a:rPr>
              <a:t> coordinates. </a:t>
            </a:r>
          </a:p>
          <a:p>
            <a:r>
              <a:rPr lang="en-SG" sz="1200" kern="1200" dirty="0">
                <a:solidFill>
                  <a:schemeClr val="tx1"/>
                </a:solidFill>
                <a:effectLst/>
                <a:latin typeface="+mn-lt"/>
                <a:ea typeface="+mn-ea"/>
                <a:cs typeface="+mn-cs"/>
              </a:rPr>
              <a:t>__</a:t>
            </a:r>
            <a:r>
              <a:rPr lang="en-SG" sz="1200" kern="1200" dirty="0" err="1">
                <a:solidFill>
                  <a:schemeClr val="tx1"/>
                </a:solidFill>
                <a:effectLst/>
                <a:latin typeface="+mn-lt"/>
                <a:ea typeface="+mn-ea"/>
                <a:cs typeface="+mn-cs"/>
              </a:rPr>
              <a:t>init</a:t>
            </a:r>
            <a:r>
              <a:rPr lang="en-SG" sz="1200" kern="1200" dirty="0">
                <a:solidFill>
                  <a:schemeClr val="tx1"/>
                </a:solidFill>
                <a:effectLst/>
                <a:latin typeface="+mn-lt"/>
                <a:ea typeface="+mn-ea"/>
                <a:cs typeface="+mn-cs"/>
              </a:rPr>
              <a:t>__(self, x, y)</a:t>
            </a:r>
            <a:r>
              <a:rPr lang="en-SG" dirty="0">
                <a:effectLst/>
              </a:rPr>
              <a:t>: The constructor initializes the </a:t>
            </a:r>
            <a:r>
              <a:rPr lang="en-SG" sz="1200" kern="1200" dirty="0">
                <a:solidFill>
                  <a:schemeClr val="tx1"/>
                </a:solidFill>
                <a:effectLst/>
                <a:latin typeface="+mn-lt"/>
                <a:ea typeface="+mn-ea"/>
                <a:cs typeface="+mn-cs"/>
              </a:rPr>
              <a:t>x</a:t>
            </a:r>
            <a:r>
              <a:rPr lang="en-SG" dirty="0">
                <a:effectLst/>
              </a:rPr>
              <a:t> and </a:t>
            </a:r>
            <a:r>
              <a:rPr lang="en-SG" sz="1200" kern="1200" dirty="0">
                <a:solidFill>
                  <a:schemeClr val="tx1"/>
                </a:solidFill>
                <a:effectLst/>
                <a:latin typeface="+mn-lt"/>
                <a:ea typeface="+mn-ea"/>
                <a:cs typeface="+mn-cs"/>
              </a:rPr>
              <a:t>y</a:t>
            </a:r>
            <a:r>
              <a:rPr lang="en-SG" dirty="0">
                <a:effectLst/>
              </a:rPr>
              <a:t> attributes of a </a:t>
            </a:r>
            <a:r>
              <a:rPr lang="en-SG" sz="1200" kern="1200" dirty="0">
                <a:solidFill>
                  <a:schemeClr val="tx1"/>
                </a:solidFill>
                <a:effectLst/>
                <a:latin typeface="+mn-lt"/>
                <a:ea typeface="+mn-ea"/>
                <a:cs typeface="+mn-cs"/>
              </a:rPr>
              <a:t>Vector</a:t>
            </a:r>
            <a:r>
              <a:rPr lang="en-SG" dirty="0">
                <a:effectLst/>
              </a:rPr>
              <a:t> object. </a:t>
            </a:r>
          </a:p>
          <a:p>
            <a:r>
              <a:rPr lang="en-SG" sz="1200" kern="1200" dirty="0">
                <a:solidFill>
                  <a:schemeClr val="tx1"/>
                </a:solidFill>
                <a:effectLst/>
                <a:latin typeface="+mn-lt"/>
                <a:ea typeface="+mn-ea"/>
                <a:cs typeface="+mn-cs"/>
              </a:rPr>
              <a:t>__add__(self, other)</a:t>
            </a:r>
            <a:r>
              <a:rPr lang="en-SG" dirty="0">
                <a:effectLst/>
              </a:rPr>
              <a:t>: </a:t>
            </a:r>
          </a:p>
          <a:p>
            <a:pPr lvl="1"/>
            <a:r>
              <a:rPr lang="en-SG" dirty="0">
                <a:effectLst/>
              </a:rPr>
              <a:t>This "magic method" is called when the </a:t>
            </a:r>
            <a:r>
              <a:rPr lang="en-SG" sz="1200" kern="1200" dirty="0">
                <a:solidFill>
                  <a:schemeClr val="tx1"/>
                </a:solidFill>
                <a:effectLst/>
                <a:latin typeface="+mn-lt"/>
                <a:ea typeface="+mn-ea"/>
                <a:cs typeface="+mn-cs"/>
              </a:rPr>
              <a:t>+</a:t>
            </a:r>
            <a:r>
              <a:rPr lang="en-SG" dirty="0">
                <a:effectLst/>
              </a:rPr>
              <a:t> operator is used with a </a:t>
            </a:r>
            <a:r>
              <a:rPr lang="en-SG" sz="1200" kern="1200" dirty="0">
                <a:solidFill>
                  <a:schemeClr val="tx1"/>
                </a:solidFill>
                <a:effectLst/>
                <a:latin typeface="+mn-lt"/>
                <a:ea typeface="+mn-ea"/>
                <a:cs typeface="+mn-cs"/>
              </a:rPr>
              <a:t>Vector</a:t>
            </a:r>
            <a:r>
              <a:rPr lang="en-SG" dirty="0">
                <a:effectLst/>
              </a:rPr>
              <a:t> object. </a:t>
            </a:r>
          </a:p>
          <a:p>
            <a:pPr lvl="1"/>
            <a:r>
              <a:rPr lang="en-SG" sz="1200" kern="1200" dirty="0">
                <a:solidFill>
                  <a:schemeClr val="tx1"/>
                </a:solidFill>
                <a:effectLst/>
                <a:latin typeface="+mn-lt"/>
                <a:ea typeface="+mn-ea"/>
                <a:cs typeface="+mn-cs"/>
              </a:rPr>
              <a:t>self</a:t>
            </a:r>
            <a:r>
              <a:rPr lang="en-SG" dirty="0">
                <a:effectLst/>
              </a:rPr>
              <a:t> refers to the </a:t>
            </a:r>
            <a:r>
              <a:rPr lang="en-SG" sz="1200" kern="1200" dirty="0">
                <a:solidFill>
                  <a:schemeClr val="tx1"/>
                </a:solidFill>
                <a:effectLst/>
                <a:latin typeface="+mn-lt"/>
                <a:ea typeface="+mn-ea"/>
                <a:cs typeface="+mn-cs"/>
              </a:rPr>
              <a:t>Vector</a:t>
            </a:r>
            <a:r>
              <a:rPr lang="en-SG" dirty="0">
                <a:effectLst/>
              </a:rPr>
              <a:t> object on the left side of the </a:t>
            </a:r>
            <a:r>
              <a:rPr lang="en-SG" sz="1200" kern="1200" dirty="0">
                <a:solidFill>
                  <a:schemeClr val="tx1"/>
                </a:solidFill>
                <a:effectLst/>
                <a:latin typeface="+mn-lt"/>
                <a:ea typeface="+mn-ea"/>
                <a:cs typeface="+mn-cs"/>
              </a:rPr>
              <a:t>+</a:t>
            </a:r>
            <a:r>
              <a:rPr lang="en-SG" dirty="0">
                <a:effectLst/>
              </a:rPr>
              <a:t> operator (e.g., </a:t>
            </a:r>
            <a:r>
              <a:rPr lang="en-SG" sz="1200" kern="1200" dirty="0">
                <a:solidFill>
                  <a:schemeClr val="tx1"/>
                </a:solidFill>
                <a:effectLst/>
                <a:latin typeface="+mn-lt"/>
                <a:ea typeface="+mn-ea"/>
                <a:cs typeface="+mn-cs"/>
              </a:rPr>
              <a:t>v1</a:t>
            </a:r>
            <a:r>
              <a:rPr lang="en-SG" dirty="0">
                <a:effectLst/>
              </a:rPr>
              <a:t> in </a:t>
            </a:r>
            <a:r>
              <a:rPr lang="en-SG" sz="1200" kern="1200" dirty="0">
                <a:solidFill>
                  <a:schemeClr val="tx1"/>
                </a:solidFill>
                <a:effectLst/>
                <a:latin typeface="+mn-lt"/>
                <a:ea typeface="+mn-ea"/>
                <a:cs typeface="+mn-cs"/>
              </a:rPr>
              <a:t>v1 + v2</a:t>
            </a:r>
            <a:r>
              <a:rPr lang="en-SG" dirty="0">
                <a:effectLst/>
              </a:rPr>
              <a:t>). </a:t>
            </a:r>
          </a:p>
          <a:p>
            <a:pPr lvl="1"/>
            <a:r>
              <a:rPr lang="en-SG" sz="1200" kern="1200" dirty="0">
                <a:solidFill>
                  <a:schemeClr val="tx1"/>
                </a:solidFill>
                <a:effectLst/>
                <a:latin typeface="+mn-lt"/>
                <a:ea typeface="+mn-ea"/>
                <a:cs typeface="+mn-cs"/>
              </a:rPr>
              <a:t>other</a:t>
            </a:r>
            <a:r>
              <a:rPr lang="en-SG" dirty="0">
                <a:effectLst/>
              </a:rPr>
              <a:t> refers to the object on the right side of the </a:t>
            </a:r>
            <a:r>
              <a:rPr lang="en-SG" sz="1200" kern="1200" dirty="0">
                <a:solidFill>
                  <a:schemeClr val="tx1"/>
                </a:solidFill>
                <a:effectLst/>
                <a:latin typeface="+mn-lt"/>
                <a:ea typeface="+mn-ea"/>
                <a:cs typeface="+mn-cs"/>
              </a:rPr>
              <a:t>+</a:t>
            </a:r>
            <a:r>
              <a:rPr lang="en-SG" dirty="0">
                <a:effectLst/>
              </a:rPr>
              <a:t> operator (e.g., </a:t>
            </a:r>
            <a:r>
              <a:rPr lang="en-SG" sz="1200" kern="1200" dirty="0">
                <a:solidFill>
                  <a:schemeClr val="tx1"/>
                </a:solidFill>
                <a:effectLst/>
                <a:latin typeface="+mn-lt"/>
                <a:ea typeface="+mn-ea"/>
                <a:cs typeface="+mn-cs"/>
              </a:rPr>
              <a:t>v2</a:t>
            </a:r>
            <a:r>
              <a:rPr lang="en-SG" dirty="0">
                <a:effectLst/>
              </a:rPr>
              <a:t> in </a:t>
            </a:r>
            <a:r>
              <a:rPr lang="en-SG" sz="1200" kern="1200" dirty="0">
                <a:solidFill>
                  <a:schemeClr val="tx1"/>
                </a:solidFill>
                <a:effectLst/>
                <a:latin typeface="+mn-lt"/>
                <a:ea typeface="+mn-ea"/>
                <a:cs typeface="+mn-cs"/>
              </a:rPr>
              <a:t>v1 + v2</a:t>
            </a:r>
            <a:r>
              <a:rPr lang="en-SG" dirty="0">
                <a:effectLst/>
              </a:rPr>
              <a:t>).</a:t>
            </a:r>
          </a:p>
        </p:txBody>
      </p:sp>
      <p:sp>
        <p:nvSpPr>
          <p:cNvPr id="4" name="Slide Number Placeholder 3">
            <a:extLst>
              <a:ext uri="{FF2B5EF4-FFF2-40B4-BE49-F238E27FC236}">
                <a16:creationId xmlns:a16="http://schemas.microsoft.com/office/drawing/2014/main" id="{57E4AB53-AFAD-9D0A-338D-D1317F77237B}"/>
              </a:ext>
            </a:extLst>
          </p:cNvPr>
          <p:cNvSpPr>
            <a:spLocks noGrp="1"/>
          </p:cNvSpPr>
          <p:nvPr>
            <p:ph type="sldNum" sz="quarter" idx="5"/>
          </p:nvPr>
        </p:nvSpPr>
        <p:spPr/>
        <p:txBody>
          <a:bodyPr/>
          <a:lstStyle/>
          <a:p>
            <a:fld id="{1C1AF8F2-CE65-4867-9E7B-FB53AA03DEA1}" type="slidenum">
              <a:rPr lang="en-US" smtClean="0"/>
              <a:t>12</a:t>
            </a:fld>
            <a:endParaRPr lang="en-US" dirty="0"/>
          </a:p>
        </p:txBody>
      </p:sp>
    </p:spTree>
    <p:extLst>
      <p:ext uri="{BB962C8B-B14F-4D97-AF65-F5344CB8AC3E}">
        <p14:creationId xmlns:p14="http://schemas.microsoft.com/office/powerpoint/2010/main" val="2752858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7035E-C6F4-D4A4-BEFD-0724FEC7BB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B587E-97CE-A4A8-70EE-8B7F96841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D41FA0-D6ED-3DAA-5F7F-C24DD770BDC7}"/>
              </a:ext>
            </a:extLst>
          </p:cNvPr>
          <p:cNvSpPr>
            <a:spLocks noGrp="1"/>
          </p:cNvSpPr>
          <p:nvPr>
            <p:ph type="body" idx="1"/>
          </p:nvPr>
        </p:nvSpPr>
        <p:spPr/>
        <p:txBody>
          <a:bodyPr/>
          <a:lstStyle/>
          <a:p>
            <a:r>
              <a:rPr lang="en-SG" dirty="0"/>
              <a:t>Abstraction allows you to show only the important details of an object or system, while hiding the complex parts that the user doesn't need to see.</a:t>
            </a:r>
          </a:p>
          <a:p>
            <a:endParaRPr lang="en-SG" dirty="0"/>
          </a:p>
        </p:txBody>
      </p:sp>
      <p:sp>
        <p:nvSpPr>
          <p:cNvPr id="4" name="Slide Number Placeholder 3">
            <a:extLst>
              <a:ext uri="{FF2B5EF4-FFF2-40B4-BE49-F238E27FC236}">
                <a16:creationId xmlns:a16="http://schemas.microsoft.com/office/drawing/2014/main" id="{8A932210-E265-6175-6D8A-56B63EFD7117}"/>
              </a:ext>
            </a:extLst>
          </p:cNvPr>
          <p:cNvSpPr>
            <a:spLocks noGrp="1"/>
          </p:cNvSpPr>
          <p:nvPr>
            <p:ph type="sldNum" sz="quarter" idx="5"/>
          </p:nvPr>
        </p:nvSpPr>
        <p:spPr/>
        <p:txBody>
          <a:bodyPr/>
          <a:lstStyle/>
          <a:p>
            <a:fld id="{1C1AF8F2-CE65-4867-9E7B-FB53AA03DEA1}" type="slidenum">
              <a:rPr lang="en-US" smtClean="0"/>
              <a:t>13</a:t>
            </a:fld>
            <a:endParaRPr lang="en-US" dirty="0"/>
          </a:p>
        </p:txBody>
      </p:sp>
    </p:spTree>
    <p:extLst>
      <p:ext uri="{BB962C8B-B14F-4D97-AF65-F5344CB8AC3E}">
        <p14:creationId xmlns:p14="http://schemas.microsoft.com/office/powerpoint/2010/main" val="21809275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Abstraction allows you to show only the important details of an object or system, while hiding the complex parts that the user doesn't need to see.</a:t>
            </a:r>
          </a:p>
          <a:p>
            <a:endParaRPr lang="en-SG" dirty="0"/>
          </a:p>
        </p:txBody>
      </p:sp>
      <p:sp>
        <p:nvSpPr>
          <p:cNvPr id="4" name="Slide Number Placeholder 3"/>
          <p:cNvSpPr>
            <a:spLocks noGrp="1"/>
          </p:cNvSpPr>
          <p:nvPr>
            <p:ph type="sldNum" sz="quarter" idx="5"/>
          </p:nvPr>
        </p:nvSpPr>
        <p:spPr/>
        <p:txBody>
          <a:bodyPr/>
          <a:lstStyle/>
          <a:p>
            <a:fld id="{1C1AF8F2-CE65-4867-9E7B-FB53AA03DEA1}" type="slidenum">
              <a:rPr lang="en-US" smtClean="0"/>
              <a:t>14</a:t>
            </a:fld>
            <a:endParaRPr lang="en-US" dirty="0"/>
          </a:p>
        </p:txBody>
      </p:sp>
    </p:spTree>
    <p:extLst>
      <p:ext uri="{BB962C8B-B14F-4D97-AF65-F5344CB8AC3E}">
        <p14:creationId xmlns:p14="http://schemas.microsoft.com/office/powerpoint/2010/main" val="31220861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C1AF8F2-CE65-4867-9E7B-FB53AA03DEA1}" type="slidenum">
              <a:rPr lang="en-US" smtClean="0"/>
              <a:t>15</a:t>
            </a:fld>
            <a:endParaRPr lang="en-US" dirty="0"/>
          </a:p>
        </p:txBody>
      </p:sp>
    </p:spTree>
    <p:extLst>
      <p:ext uri="{BB962C8B-B14F-4D97-AF65-F5344CB8AC3E}">
        <p14:creationId xmlns:p14="http://schemas.microsoft.com/office/powerpoint/2010/main" val="33425785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C1AF8F2-CE65-4867-9E7B-FB53AA03DEA1}" type="slidenum">
              <a:rPr lang="en-US" smtClean="0"/>
              <a:t>16</a:t>
            </a:fld>
            <a:endParaRPr lang="en-US" dirty="0"/>
          </a:p>
        </p:txBody>
      </p:sp>
    </p:spTree>
    <p:extLst>
      <p:ext uri="{BB962C8B-B14F-4D97-AF65-F5344CB8AC3E}">
        <p14:creationId xmlns:p14="http://schemas.microsoft.com/office/powerpoint/2010/main" val="1366050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6F59C-FD54-9FAF-D869-FC2CC002DB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C6799-33A8-BFFF-3D0F-0699E8A11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3C7F10-E2CC-76AE-FEC3-85F083B9D77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BF4C0F9F-4614-7DF1-C639-9DF65C4C61D6}"/>
              </a:ext>
            </a:extLst>
          </p:cNvPr>
          <p:cNvSpPr>
            <a:spLocks noGrp="1"/>
          </p:cNvSpPr>
          <p:nvPr>
            <p:ph type="sldNum" sz="quarter" idx="5"/>
          </p:nvPr>
        </p:nvSpPr>
        <p:spPr/>
        <p:txBody>
          <a:bodyPr/>
          <a:lstStyle/>
          <a:p>
            <a:fld id="{1C1AF8F2-CE65-4867-9E7B-FB53AA03DEA1}" type="slidenum">
              <a:rPr lang="en-US" smtClean="0"/>
              <a:t>17</a:t>
            </a:fld>
            <a:endParaRPr lang="en-US" dirty="0"/>
          </a:p>
        </p:txBody>
      </p:sp>
    </p:spTree>
    <p:extLst>
      <p:ext uri="{BB962C8B-B14F-4D97-AF65-F5344CB8AC3E}">
        <p14:creationId xmlns:p14="http://schemas.microsoft.com/office/powerpoint/2010/main" val="27020664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Abstraction allows you to show only the important details of an object or system, while hiding the complex parts that the user doesn't need to see.</a:t>
            </a:r>
          </a:p>
          <a:p>
            <a:endParaRPr lang="en-SG" dirty="0"/>
          </a:p>
        </p:txBody>
      </p:sp>
      <p:sp>
        <p:nvSpPr>
          <p:cNvPr id="4" name="Slide Number Placeholder 3"/>
          <p:cNvSpPr>
            <a:spLocks noGrp="1"/>
          </p:cNvSpPr>
          <p:nvPr>
            <p:ph type="sldNum" sz="quarter" idx="5"/>
          </p:nvPr>
        </p:nvSpPr>
        <p:spPr/>
        <p:txBody>
          <a:bodyPr/>
          <a:lstStyle/>
          <a:p>
            <a:fld id="{1C1AF8F2-CE65-4867-9E7B-FB53AA03DEA1}" type="slidenum">
              <a:rPr lang="en-US" smtClean="0"/>
              <a:t>18</a:t>
            </a:fld>
            <a:endParaRPr lang="en-US" dirty="0"/>
          </a:p>
        </p:txBody>
      </p:sp>
    </p:spTree>
    <p:extLst>
      <p:ext uri="{BB962C8B-B14F-4D97-AF65-F5344CB8AC3E}">
        <p14:creationId xmlns:p14="http://schemas.microsoft.com/office/powerpoint/2010/main" val="1601733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527352" y="1256044"/>
            <a:ext cx="11064724" cy="49240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22DF249C-FB25-2B70-EC70-3ABA0285426D}"/>
              </a:ext>
            </a:extLst>
          </p:cNvPr>
          <p:cNvSpPr>
            <a:spLocks noGrp="1"/>
          </p:cNvSpPr>
          <p:nvPr>
            <p:ph type="sldNum" sz="quarter" idx="4"/>
          </p:nvPr>
        </p:nvSpPr>
        <p:spPr>
          <a:xfrm>
            <a:off x="8839200" y="6492875"/>
            <a:ext cx="2844800" cy="365125"/>
          </a:xfrm>
          <a:prstGeom prst="rect">
            <a:avLst/>
          </a:prstGeom>
        </p:spPr>
        <p:txBody>
          <a:bodyPr vert="horz" lIns="91440" tIns="45720" rIns="91440" bIns="45720" rtlCol="0" anchor="ctr"/>
          <a:lstStyle>
            <a:lvl1pPr algn="r">
              <a:defRPr sz="1200" baseline="0">
                <a:solidFill>
                  <a:schemeClr val="bg1"/>
                </a:solidFill>
                <a:latin typeface="Arial"/>
              </a:defRPr>
            </a:lvl1pPr>
          </a:lstStyle>
          <a:p>
            <a:pPr defTabSz="457189"/>
            <a:fld id="{8E6562B1-0B0F-0246-9532-09536BC2AE59}" type="slidenum">
              <a:rPr lang="en-US" smtClean="0"/>
              <a:pPr defTabSz="457189"/>
              <a:t>‹#›</a:t>
            </a:fld>
            <a:endParaRPr lang="en-US" dirty="0"/>
          </a:p>
        </p:txBody>
      </p:sp>
    </p:spTree>
    <p:extLst>
      <p:ext uri="{BB962C8B-B14F-4D97-AF65-F5344CB8AC3E}">
        <p14:creationId xmlns:p14="http://schemas.microsoft.com/office/powerpoint/2010/main" val="1889926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61872" y="365760"/>
            <a:ext cx="9692640" cy="68931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256044"/>
            <a:ext cx="9474792" cy="49240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pic>
        <p:nvPicPr>
          <p:cNvPr id="6" name="Picture 5">
            <a:extLst>
              <a:ext uri="{FF2B5EF4-FFF2-40B4-BE49-F238E27FC236}">
                <a16:creationId xmlns:a16="http://schemas.microsoft.com/office/drawing/2014/main" id="{935CF7AE-56E2-5E80-DC5E-7E39E45E2AE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496255"/>
            <a:ext cx="12192000" cy="382524"/>
          </a:xfrm>
          <a:prstGeom prst="rect">
            <a:avLst/>
          </a:prstGeom>
        </p:spPr>
      </p:pic>
      <p:sp>
        <p:nvSpPr>
          <p:cNvPr id="7" name="Footer Placeholder 4">
            <a:extLst>
              <a:ext uri="{FF2B5EF4-FFF2-40B4-BE49-F238E27FC236}">
                <a16:creationId xmlns:a16="http://schemas.microsoft.com/office/drawing/2014/main" id="{DF596423-60BC-0CBA-55D1-B095B6ADA808}"/>
              </a:ext>
            </a:extLst>
          </p:cNvPr>
          <p:cNvSpPr txBox="1">
            <a:spLocks/>
          </p:cNvSpPr>
          <p:nvPr userDrawn="1"/>
        </p:nvSpPr>
        <p:spPr>
          <a:xfrm>
            <a:off x="4204305" y="6503815"/>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189"/>
            <a:r>
              <a:rPr lang="en-US"/>
              <a:t>CA6000</a:t>
            </a:r>
            <a:endParaRPr lang="en-US" dirty="0"/>
          </a:p>
        </p:txBody>
      </p:sp>
      <p:sp>
        <p:nvSpPr>
          <p:cNvPr id="11" name="Slide Number Placeholder 5">
            <a:extLst>
              <a:ext uri="{FF2B5EF4-FFF2-40B4-BE49-F238E27FC236}">
                <a16:creationId xmlns:a16="http://schemas.microsoft.com/office/drawing/2014/main" id="{678AA247-8875-1D5B-63B1-6DEFD5854871}"/>
              </a:ext>
            </a:extLst>
          </p:cNvPr>
          <p:cNvSpPr>
            <a:spLocks noGrp="1"/>
          </p:cNvSpPr>
          <p:nvPr>
            <p:ph type="sldNum" sz="quarter" idx="4"/>
          </p:nvPr>
        </p:nvSpPr>
        <p:spPr>
          <a:xfrm>
            <a:off x="8839200" y="6492875"/>
            <a:ext cx="2844800" cy="365125"/>
          </a:xfrm>
          <a:prstGeom prst="rect">
            <a:avLst/>
          </a:prstGeom>
        </p:spPr>
        <p:txBody>
          <a:bodyPr vert="horz" lIns="91440" tIns="45720" rIns="91440" bIns="45720" rtlCol="0" anchor="ctr"/>
          <a:lstStyle>
            <a:lvl1pPr algn="r">
              <a:defRPr sz="1200" baseline="0">
                <a:solidFill>
                  <a:schemeClr val="bg1"/>
                </a:solidFill>
                <a:latin typeface="Arial"/>
              </a:defRPr>
            </a:lvl1pPr>
          </a:lstStyle>
          <a:p>
            <a:pPr defTabSz="457189"/>
            <a:fld id="{8E6562B1-0B0F-0246-9532-09536BC2AE59}" type="slidenum">
              <a:rPr lang="en-US" smtClean="0"/>
              <a:pPr defTabSz="457189"/>
              <a:t>‹#›</a:t>
            </a:fld>
            <a:endParaRPr lang="en-US" dirty="0"/>
          </a:p>
        </p:txBody>
      </p:sp>
    </p:spTree>
    <p:extLst>
      <p:ext uri="{BB962C8B-B14F-4D97-AF65-F5344CB8AC3E}">
        <p14:creationId xmlns:p14="http://schemas.microsoft.com/office/powerpoint/2010/main" val="4127581784"/>
      </p:ext>
    </p:extLst>
  </p:cSld>
  <p:clrMap bg1="lt1" tx1="dk1" bg2="lt2" tx2="dk2" accent1="accent1" accent2="accent2" accent3="accent3" accent4="accent4" accent5="accent5" accent6="accent6" hlink="hlink" folHlink="folHlink"/>
  <p:sldLayoutIdLst>
    <p:sldLayoutId id="2147483752" r:id="rId1"/>
  </p:sldLayoutIdLst>
  <p:hf hdr="0" ftr="0" dt="0"/>
  <p:txStyles>
    <p:titleStyle>
      <a:lvl1pPr algn="l" defTabSz="914400" rtl="0" eaLnBrk="1" latinLnBrk="0" hangingPunct="1">
        <a:lnSpc>
          <a:spcPct val="90000"/>
        </a:lnSpc>
        <a:spcBef>
          <a:spcPct val="0"/>
        </a:spcBef>
        <a:buNone/>
        <a:defRPr sz="4400" b="1" kern="1200" spc="-50" baseline="0">
          <a:solidFill>
            <a:schemeClr val="tx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872" y="365760"/>
            <a:ext cx="9692640" cy="4425181"/>
          </a:xfrm>
        </p:spPr>
        <p:txBody>
          <a:bodyPr>
            <a:normAutofit/>
          </a:bodyPr>
          <a:lstStyle/>
          <a:p>
            <a:pPr algn="ctr"/>
            <a:r>
              <a:rPr lang="en-US" sz="4000" b="1" dirty="0">
                <a:solidFill>
                  <a:srgbClr val="C00000"/>
                </a:solidFill>
                <a:latin typeface="Arial" panose="020B0604020202020204" pitchFamily="34" charset="0"/>
                <a:cs typeface="Arial" panose="020B0604020202020204" pitchFamily="34" charset="0"/>
              </a:rPr>
              <a:t> </a:t>
            </a:r>
            <a:br>
              <a:rPr lang="en-US" sz="4000" b="1" dirty="0">
                <a:solidFill>
                  <a:srgbClr val="C00000"/>
                </a:solidFill>
                <a:latin typeface="Arial" panose="020B0604020202020204" pitchFamily="34" charset="0"/>
                <a:cs typeface="Arial" panose="020B0604020202020204" pitchFamily="34" charset="0"/>
              </a:rPr>
            </a:br>
            <a:r>
              <a:rPr lang="en-US" sz="4000" b="1" dirty="0">
                <a:solidFill>
                  <a:srgbClr val="C00000"/>
                </a:solidFill>
                <a:latin typeface="Arial" panose="020B0604020202020204" pitchFamily="34" charset="0"/>
                <a:cs typeface="Arial" panose="020B0604020202020204" pitchFamily="34" charset="0"/>
              </a:rPr>
              <a:t>Python Class </a:t>
            </a:r>
            <a:br>
              <a:rPr lang="en-US" sz="4000" b="1" dirty="0">
                <a:solidFill>
                  <a:srgbClr val="C00000"/>
                </a:solidFill>
                <a:latin typeface="Arial" panose="020B0604020202020204" pitchFamily="34" charset="0"/>
                <a:cs typeface="Arial" panose="020B0604020202020204" pitchFamily="34" charset="0"/>
              </a:rPr>
            </a:br>
            <a:r>
              <a:rPr lang="en-US" sz="4000" b="1" dirty="0">
                <a:solidFill>
                  <a:srgbClr val="C00000"/>
                </a:solidFill>
                <a:latin typeface="Arial" panose="020B0604020202020204" pitchFamily="34" charset="0"/>
                <a:cs typeface="Arial" panose="020B0604020202020204" pitchFamily="34" charset="0"/>
              </a:rPr>
              <a:t>(Objects, Methods, Inheritance) </a:t>
            </a:r>
            <a:br>
              <a:rPr lang="en-US" sz="4000" b="1" dirty="0">
                <a:solidFill>
                  <a:srgbClr val="C00000"/>
                </a:solidFill>
                <a:latin typeface="Arial" panose="020B0604020202020204" pitchFamily="34" charset="0"/>
                <a:cs typeface="Arial" panose="020B0604020202020204" pitchFamily="34" charset="0"/>
              </a:rPr>
            </a:br>
            <a:br>
              <a:rPr lang="en-US" sz="4000" b="1" dirty="0">
                <a:solidFill>
                  <a:srgbClr val="C00000"/>
                </a:solidFill>
                <a:latin typeface="Arial" panose="020B0604020202020204" pitchFamily="34" charset="0"/>
                <a:cs typeface="Arial" panose="020B0604020202020204" pitchFamily="34" charset="0"/>
              </a:rPr>
            </a:br>
            <a:endParaRPr lang="en-US" sz="40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8124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solidFill>
                  <a:srgbClr val="C00000"/>
                </a:solidFill>
              </a:rPr>
              <a:t>Class and Object</a:t>
            </a:r>
          </a:p>
        </p:txBody>
      </p:sp>
      <p:sp>
        <p:nvSpPr>
          <p:cNvPr id="3" name="Content Placeholder 2"/>
          <p:cNvSpPr>
            <a:spLocks noGrp="1"/>
          </p:cNvSpPr>
          <p:nvPr>
            <p:ph idx="1"/>
          </p:nvPr>
        </p:nvSpPr>
        <p:spPr>
          <a:xfrm>
            <a:off x="659095" y="1166398"/>
            <a:ext cx="11301211" cy="5772284"/>
          </a:xfrm>
        </p:spPr>
        <p:txBody>
          <a:bodyPr>
            <a:normAutofit fontScale="47500" lnSpcReduction="20000"/>
          </a:bodyPr>
          <a:lstStyle/>
          <a:p>
            <a:pPr marL="0" indent="0">
              <a:lnSpc>
                <a:spcPct val="100000"/>
              </a:lnSpc>
              <a:spcBef>
                <a:spcPts val="600"/>
              </a:spcBef>
              <a:spcAft>
                <a:spcPts val="600"/>
              </a:spcAft>
              <a:buNone/>
            </a:pPr>
            <a:r>
              <a:rPr lang="en-SG" sz="4400" dirty="0">
                <a:latin typeface="Arial" panose="020B0604020202020204" pitchFamily="34" charset="0"/>
                <a:cs typeface="Arial" panose="020B0604020202020204" pitchFamily="34" charset="0"/>
              </a:rPr>
              <a:t>We have been using built-in (primitive) data type and data structure provided by Python</a:t>
            </a:r>
          </a:p>
          <a:p>
            <a:pPr marL="0" indent="0">
              <a:lnSpc>
                <a:spcPct val="100000"/>
              </a:lnSpc>
              <a:spcBef>
                <a:spcPts val="600"/>
              </a:spcBef>
              <a:spcAft>
                <a:spcPts val="600"/>
              </a:spcAft>
              <a:buNone/>
            </a:pPr>
            <a:r>
              <a:rPr lang="en-SG" sz="4400" dirty="0">
                <a:latin typeface="Arial" panose="020B0604020202020204" pitchFamily="34" charset="0"/>
                <a:cs typeface="Arial" panose="020B0604020202020204" pitchFamily="34" charset="0"/>
              </a:rPr>
              <a:t>Examples: integer, string, list, dict etc</a:t>
            </a:r>
          </a:p>
          <a:p>
            <a:pPr marL="354013" indent="-354013">
              <a:lnSpc>
                <a:spcPct val="100000"/>
              </a:lnSpc>
              <a:spcBef>
                <a:spcPts val="600"/>
              </a:spcBef>
              <a:spcAft>
                <a:spcPts val="600"/>
              </a:spcAft>
            </a:pPr>
            <a:r>
              <a:rPr lang="en-SG" sz="4400" dirty="0">
                <a:latin typeface="Arial" panose="020B0604020202020204" pitchFamily="34" charset="0"/>
                <a:cs typeface="Arial" panose="020B0604020202020204" pitchFamily="34" charset="0"/>
              </a:rPr>
              <a:t>together with their built-in methods </a:t>
            </a:r>
          </a:p>
          <a:p>
            <a:pPr marL="714375" indent="-354013">
              <a:lnSpc>
                <a:spcPct val="100000"/>
              </a:lnSpc>
              <a:spcBef>
                <a:spcPts val="600"/>
              </a:spcBef>
              <a:spcAft>
                <a:spcPts val="600"/>
              </a:spcAft>
            </a:pPr>
            <a:r>
              <a:rPr lang="en-SG" sz="4400" dirty="0">
                <a:latin typeface="Arial" panose="020B0604020202020204" pitchFamily="34" charset="0"/>
                <a:cs typeface="Arial" panose="020B0604020202020204" pitchFamily="34" charset="0"/>
              </a:rPr>
              <a:t>e.g. string.upper(), list.insert() </a:t>
            </a:r>
          </a:p>
          <a:p>
            <a:pPr marL="360362" indent="0">
              <a:lnSpc>
                <a:spcPct val="100000"/>
              </a:lnSpc>
              <a:spcBef>
                <a:spcPts val="600"/>
              </a:spcBef>
              <a:spcAft>
                <a:spcPts val="600"/>
              </a:spcAft>
              <a:buNone/>
            </a:pPr>
            <a:endParaRPr lang="en-SG" sz="800" dirty="0">
              <a:latin typeface="Arial" panose="020B0604020202020204" pitchFamily="34" charset="0"/>
              <a:cs typeface="Arial" panose="020B0604020202020204" pitchFamily="34" charset="0"/>
            </a:endParaRPr>
          </a:p>
          <a:p>
            <a:pPr marL="0" indent="0">
              <a:lnSpc>
                <a:spcPct val="100000"/>
              </a:lnSpc>
              <a:spcBef>
                <a:spcPts val="600"/>
              </a:spcBef>
              <a:spcAft>
                <a:spcPts val="600"/>
              </a:spcAft>
              <a:buNone/>
            </a:pPr>
            <a:r>
              <a:rPr lang="en-SG" sz="4400" dirty="0">
                <a:latin typeface="Arial" panose="020B0604020202020204" pitchFamily="34" charset="0"/>
                <a:cs typeface="Arial" panose="020B0604020202020204" pitchFamily="34" charset="0"/>
              </a:rPr>
              <a:t>Python </a:t>
            </a:r>
            <a:r>
              <a:rPr lang="en-SG" sz="4400" dirty="0">
                <a:solidFill>
                  <a:srgbClr val="FF0000"/>
                </a:solidFill>
                <a:latin typeface="Arial" panose="020B0604020202020204" pitchFamily="34" charset="0"/>
                <a:cs typeface="Arial" panose="020B0604020202020204" pitchFamily="34" charset="0"/>
              </a:rPr>
              <a:t>Class</a:t>
            </a:r>
            <a:r>
              <a:rPr lang="en-SG" sz="4400" dirty="0">
                <a:latin typeface="Arial" panose="020B0604020202020204" pitchFamily="34" charset="0"/>
                <a:cs typeface="Arial" panose="020B0604020202020204" pitchFamily="34" charset="0"/>
              </a:rPr>
              <a:t> and Object will allow us </a:t>
            </a:r>
          </a:p>
          <a:p>
            <a:pPr marL="360363" indent="-360363">
              <a:spcBef>
                <a:spcPts val="600"/>
              </a:spcBef>
              <a:spcAft>
                <a:spcPts val="600"/>
              </a:spcAft>
            </a:pPr>
            <a:r>
              <a:rPr lang="en-SG" sz="4400" dirty="0">
                <a:latin typeface="Arial" panose="020B0604020202020204" pitchFamily="34" charset="0"/>
                <a:cs typeface="Arial" panose="020B0604020202020204" pitchFamily="34" charset="0"/>
              </a:rPr>
              <a:t>to </a:t>
            </a:r>
            <a:r>
              <a:rPr lang="en-SG" sz="4400" dirty="0">
                <a:solidFill>
                  <a:srgbClr val="0070C0"/>
                </a:solidFill>
                <a:latin typeface="Arial" panose="020B0604020202020204" pitchFamily="34" charset="0"/>
                <a:cs typeface="Arial" panose="020B0604020202020204" pitchFamily="34" charset="0"/>
              </a:rPr>
              <a:t>define our own </a:t>
            </a:r>
            <a:r>
              <a:rPr lang="en-SG" sz="4400" dirty="0">
                <a:solidFill>
                  <a:srgbClr val="FF0000"/>
                </a:solidFill>
                <a:latin typeface="Arial" panose="020B0604020202020204" pitchFamily="34" charset="0"/>
                <a:cs typeface="Arial" panose="020B0604020202020204" pitchFamily="34" charset="0"/>
              </a:rPr>
              <a:t>custom data structure </a:t>
            </a:r>
          </a:p>
          <a:p>
            <a:pPr marL="360363" indent="-360363">
              <a:spcBef>
                <a:spcPts val="600"/>
              </a:spcBef>
              <a:spcAft>
                <a:spcPts val="600"/>
              </a:spcAft>
            </a:pPr>
            <a:r>
              <a:rPr lang="en-SG" sz="4400" dirty="0">
                <a:latin typeface="Arial" panose="020B0604020202020204" pitchFamily="34" charset="0"/>
                <a:cs typeface="Arial" panose="020B0604020202020204" pitchFamily="34" charset="0"/>
              </a:rPr>
              <a:t>to define </a:t>
            </a:r>
            <a:r>
              <a:rPr lang="en-SG" sz="4400" dirty="0">
                <a:solidFill>
                  <a:srgbClr val="FF0000"/>
                </a:solidFill>
                <a:latin typeface="Arial" panose="020B0604020202020204" pitchFamily="34" charset="0"/>
                <a:cs typeface="Arial" panose="020B0604020202020204" pitchFamily="34" charset="0"/>
              </a:rPr>
              <a:t>custom methods </a:t>
            </a:r>
          </a:p>
          <a:p>
            <a:pPr marL="360363" indent="-360363">
              <a:spcBef>
                <a:spcPts val="600"/>
              </a:spcBef>
              <a:spcAft>
                <a:spcPts val="600"/>
              </a:spcAft>
            </a:pPr>
            <a:r>
              <a:rPr lang="en-SG" sz="4400" dirty="0">
                <a:latin typeface="Arial" panose="020B0604020202020204" pitchFamily="34" charset="0"/>
                <a:cs typeface="Arial" panose="020B0604020202020204" pitchFamily="34" charset="0"/>
              </a:rPr>
              <a:t>to reuse and share code</a:t>
            </a:r>
          </a:p>
          <a:p>
            <a:pPr marL="0" indent="0">
              <a:spcBef>
                <a:spcPts val="600"/>
              </a:spcBef>
              <a:spcAft>
                <a:spcPts val="600"/>
              </a:spcAft>
              <a:buNone/>
            </a:pPr>
            <a:endParaRPr lang="en-SG" sz="2500" dirty="0">
              <a:latin typeface="Arial" panose="020B0604020202020204" pitchFamily="34" charset="0"/>
              <a:cs typeface="Arial" panose="020B0604020202020204" pitchFamily="34" charset="0"/>
            </a:endParaRPr>
          </a:p>
          <a:p>
            <a:pPr marL="0" indent="0">
              <a:spcBef>
                <a:spcPts val="600"/>
              </a:spcBef>
              <a:spcAft>
                <a:spcPts val="600"/>
              </a:spcAft>
              <a:buNone/>
            </a:pPr>
            <a:r>
              <a:rPr lang="en-SG" sz="4400" dirty="0">
                <a:latin typeface="Arial" panose="020B0604020202020204" pitchFamily="34" charset="0"/>
                <a:cs typeface="Arial" panose="020B0604020202020204" pitchFamily="34" charset="0"/>
              </a:rPr>
              <a:t>(Class is used in </a:t>
            </a:r>
            <a:r>
              <a:rPr lang="en-SG" sz="4400" dirty="0" err="1">
                <a:latin typeface="Arial" panose="020B0604020202020204" pitchFamily="34" charset="0"/>
                <a:cs typeface="Arial" panose="020B0604020202020204" pitchFamily="34" charset="0"/>
              </a:rPr>
              <a:t>PyTorch</a:t>
            </a:r>
            <a:r>
              <a:rPr lang="en-SG" sz="4400" dirty="0">
                <a:latin typeface="Arial" panose="020B0604020202020204" pitchFamily="34" charset="0"/>
                <a:cs typeface="Arial" panose="020B0604020202020204" pitchFamily="34" charset="0"/>
              </a:rPr>
              <a:t> ML framework)</a:t>
            </a:r>
            <a:endParaRPr lang="en-US" sz="4400" dirty="0">
              <a:latin typeface="Arial" panose="020B0604020202020204" pitchFamily="34" charset="0"/>
              <a:cs typeface="Arial" panose="020B0604020202020204" pitchFamily="34" charset="0"/>
            </a:endParaRPr>
          </a:p>
          <a:p>
            <a:pPr marL="0" indent="0">
              <a:spcBef>
                <a:spcPts val="600"/>
              </a:spcBef>
              <a:spcAft>
                <a:spcPts val="600"/>
              </a:spcAft>
              <a:buNone/>
            </a:pPr>
            <a:endParaRPr lang="en-SG" sz="1300" dirty="0">
              <a:latin typeface="Arial" panose="020B0604020202020204" pitchFamily="34" charset="0"/>
              <a:cs typeface="Arial" panose="020B0604020202020204" pitchFamily="34" charset="0"/>
            </a:endParaRPr>
          </a:p>
          <a:p>
            <a:pPr marL="0" indent="0">
              <a:lnSpc>
                <a:spcPct val="120000"/>
              </a:lnSpc>
              <a:spcBef>
                <a:spcPts val="600"/>
              </a:spcBef>
              <a:spcAft>
                <a:spcPts val="0"/>
              </a:spcAft>
              <a:buNone/>
            </a:pPr>
            <a:r>
              <a:rPr lang="en-SG" sz="4400" dirty="0">
                <a:latin typeface="Arial" panose="020B0604020202020204" pitchFamily="34" charset="0"/>
                <a:cs typeface="Arial" panose="020B0604020202020204" pitchFamily="34" charset="0"/>
              </a:rPr>
              <a:t>Aside: </a:t>
            </a:r>
            <a:r>
              <a:rPr lang="en-SG" sz="4400" dirty="0">
                <a:solidFill>
                  <a:srgbClr val="00B050"/>
                </a:solidFill>
                <a:latin typeface="Arial" panose="020B0604020202020204" pitchFamily="34" charset="0"/>
                <a:cs typeface="Arial" panose="020B0604020202020204" pitchFamily="34" charset="0"/>
              </a:rPr>
              <a:t>Class</a:t>
            </a:r>
            <a:r>
              <a:rPr lang="en-SG" sz="4400" dirty="0">
                <a:latin typeface="Arial" panose="020B0604020202020204" pitchFamily="34" charset="0"/>
                <a:cs typeface="Arial" panose="020B0604020202020204" pitchFamily="34" charset="0"/>
              </a:rPr>
              <a:t>, </a:t>
            </a:r>
            <a:r>
              <a:rPr lang="en-SG" sz="4400" dirty="0">
                <a:solidFill>
                  <a:srgbClr val="00B050"/>
                </a:solidFill>
                <a:latin typeface="Arial" panose="020B0604020202020204" pitchFamily="34" charset="0"/>
                <a:cs typeface="Arial" panose="020B0604020202020204" pitchFamily="34" charset="0"/>
              </a:rPr>
              <a:t>Object</a:t>
            </a:r>
            <a:r>
              <a:rPr lang="en-SG" sz="4400" dirty="0">
                <a:latin typeface="Arial" panose="020B0604020202020204" pitchFamily="34" charset="0"/>
                <a:cs typeface="Arial" panose="020B0604020202020204" pitchFamily="34" charset="0"/>
              </a:rPr>
              <a:t> and </a:t>
            </a:r>
            <a:r>
              <a:rPr lang="en-SG" sz="4400" dirty="0">
                <a:solidFill>
                  <a:srgbClr val="00B050"/>
                </a:solidFill>
                <a:latin typeface="Arial" panose="020B0604020202020204" pitchFamily="34" charset="0"/>
                <a:cs typeface="Arial" panose="020B0604020202020204" pitchFamily="34" charset="0"/>
              </a:rPr>
              <a:t>Inheritance</a:t>
            </a:r>
            <a:r>
              <a:rPr lang="en-SG" sz="4400" dirty="0">
                <a:latin typeface="Arial" panose="020B0604020202020204" pitchFamily="34" charset="0"/>
                <a:cs typeface="Arial" panose="020B0604020202020204" pitchFamily="34" charset="0"/>
              </a:rPr>
              <a:t> are also the main concepts used in object-oriented programming (OOP)</a:t>
            </a:r>
          </a:p>
        </p:txBody>
      </p:sp>
    </p:spTree>
    <p:extLst>
      <p:ext uri="{BB962C8B-B14F-4D97-AF65-F5344CB8AC3E}">
        <p14:creationId xmlns:p14="http://schemas.microsoft.com/office/powerpoint/2010/main" val="3809027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2" end="12"/>
                                            </p:txEl>
                                          </p:spTgt>
                                        </p:tgtEl>
                                        <p:attrNameLst>
                                          <p:attrName>style.visibility</p:attrName>
                                        </p:attrNameLst>
                                      </p:cBhvr>
                                      <p:to>
                                        <p:strVal val="visible"/>
                                      </p:to>
                                    </p:set>
                                    <p:animEffect transition="in" filter="fade">
                                      <p:cBhvr>
                                        <p:cTn id="5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E280-2A37-461B-A9F8-ACF1DFFCA3EB}"/>
              </a:ext>
            </a:extLst>
          </p:cNvPr>
          <p:cNvSpPr>
            <a:spLocks noGrp="1"/>
          </p:cNvSpPr>
          <p:nvPr>
            <p:ph type="title"/>
          </p:nvPr>
        </p:nvSpPr>
        <p:spPr/>
        <p:txBody>
          <a:bodyPr>
            <a:normAutofit fontScale="90000"/>
          </a:bodyPr>
          <a:lstStyle/>
          <a:p>
            <a:r>
              <a:rPr lang="en-SG" b="1" dirty="0">
                <a:solidFill>
                  <a:srgbClr val="C00000"/>
                </a:solidFill>
              </a:rPr>
              <a:t>Class</a:t>
            </a:r>
          </a:p>
        </p:txBody>
      </p:sp>
      <p:sp>
        <p:nvSpPr>
          <p:cNvPr id="4" name="Slide Number Placeholder 3">
            <a:extLst>
              <a:ext uri="{FF2B5EF4-FFF2-40B4-BE49-F238E27FC236}">
                <a16:creationId xmlns:a16="http://schemas.microsoft.com/office/drawing/2014/main" id="{F8D19DFC-AC32-01B5-83E0-D60A416FDDD8}"/>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3</a:t>
            </a:fld>
            <a:endParaRPr lang="en-US" dirty="0"/>
          </a:p>
        </p:txBody>
      </p:sp>
      <p:pic>
        <p:nvPicPr>
          <p:cNvPr id="5" name="Picture 4">
            <a:extLst>
              <a:ext uri="{FF2B5EF4-FFF2-40B4-BE49-F238E27FC236}">
                <a16:creationId xmlns:a16="http://schemas.microsoft.com/office/drawing/2014/main" id="{F255D165-24B3-B7B6-E3A2-DBA067966947}"/>
              </a:ext>
            </a:extLst>
          </p:cNvPr>
          <p:cNvPicPr>
            <a:picLocks noChangeAspect="1"/>
          </p:cNvPicPr>
          <p:nvPr/>
        </p:nvPicPr>
        <p:blipFill>
          <a:blip r:embed="rId3"/>
          <a:stretch>
            <a:fillRect/>
          </a:stretch>
        </p:blipFill>
        <p:spPr>
          <a:xfrm>
            <a:off x="444915" y="3456365"/>
            <a:ext cx="11239085" cy="2568690"/>
          </a:xfrm>
          <a:prstGeom prst="rect">
            <a:avLst/>
          </a:prstGeom>
        </p:spPr>
      </p:pic>
      <p:sp>
        <p:nvSpPr>
          <p:cNvPr id="3" name="Content Placeholder 16">
            <a:extLst>
              <a:ext uri="{FF2B5EF4-FFF2-40B4-BE49-F238E27FC236}">
                <a16:creationId xmlns:a16="http://schemas.microsoft.com/office/drawing/2014/main" id="{F8CB6088-2714-2773-8FD4-B49C74D82DB5}"/>
              </a:ext>
            </a:extLst>
          </p:cNvPr>
          <p:cNvSpPr txBox="1">
            <a:spLocks/>
          </p:cNvSpPr>
          <p:nvPr/>
        </p:nvSpPr>
        <p:spPr>
          <a:xfrm>
            <a:off x="609600" y="1143001"/>
            <a:ext cx="10972800" cy="4414233"/>
          </a:xfrm>
          <a:prstGeom prst="rect">
            <a:avLst/>
          </a:prstGeom>
        </p:spPr>
        <p:txBody>
          <a:bodyPr vert="horz" lIns="91440" tIns="45720" rIns="91440" bIns="45720" rtlCol="0">
            <a:normAutofit/>
          </a:bodyPr>
          <a:lst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SG" sz="2400" dirty="0">
                <a:latin typeface="Arial" panose="020B0604020202020204" pitchFamily="34" charset="0"/>
                <a:cs typeface="Arial" panose="020B0604020202020204" pitchFamily="34" charset="0"/>
              </a:rPr>
              <a:t>A class is the ‘blueprint’ that we can use to create individual objects.</a:t>
            </a:r>
          </a:p>
          <a:p>
            <a:pPr marL="0" indent="0">
              <a:buFont typeface="Arial"/>
              <a:buNone/>
            </a:pPr>
            <a:endParaRPr lang="en-SG" sz="2400" dirty="0">
              <a:solidFill>
                <a:srgbClr val="000000"/>
              </a:solidFill>
              <a:latin typeface="Arial" panose="020B0604020202020204" pitchFamily="34" charset="0"/>
              <a:cs typeface="Arial" panose="020B0604020202020204" pitchFamily="34" charset="0"/>
            </a:endParaRPr>
          </a:p>
          <a:p>
            <a:pPr marL="0" indent="0">
              <a:buFont typeface="Arial"/>
              <a:buNone/>
            </a:pPr>
            <a:r>
              <a:rPr lang="en-SG" sz="2400" dirty="0">
                <a:solidFill>
                  <a:srgbClr val="000000"/>
                </a:solidFill>
                <a:latin typeface="Arial" panose="020B0604020202020204" pitchFamily="34" charset="0"/>
                <a:cs typeface="Arial" panose="020B0604020202020204" pitchFamily="34" charset="0"/>
              </a:rPr>
              <a:t>This is similar to Dictionary data structure (pre-defined in Python) is the blueprint that we can use to create dictionary objects</a:t>
            </a:r>
          </a:p>
          <a:p>
            <a:pPr marL="0" indent="0">
              <a:buFont typeface="Arial"/>
              <a:buNone/>
            </a:pPr>
            <a:endParaRPr lang="en-US" sz="1400" dirty="0">
              <a:solidFill>
                <a:srgbClr val="FF1493"/>
              </a:solidFill>
              <a:latin typeface="Arial" panose="020B0604020202020204" pitchFamily="34" charset="0"/>
              <a:cs typeface="Arial" panose="020B0604020202020204" pitchFamily="34" charset="0"/>
            </a:endParaRPr>
          </a:p>
          <a:p>
            <a:pPr marL="0" indent="0">
              <a:buFont typeface="Arial"/>
              <a:buNone/>
            </a:pPr>
            <a:r>
              <a:rPr lang="en-US" sz="2400" dirty="0">
                <a:latin typeface="Arial" panose="020B0604020202020204" pitchFamily="34" charset="0"/>
                <a:cs typeface="Arial" panose="020B0604020202020204" pitchFamily="34" charset="0"/>
              </a:rPr>
              <a:t>Recap:</a:t>
            </a:r>
            <a:endParaRPr lang="en-SG" sz="2400" dirty="0">
              <a:latin typeface="Arial" panose="020B0604020202020204" pitchFamily="34" charset="0"/>
              <a:cs typeface="Arial" panose="020B0604020202020204" pitchFamily="34" charset="0"/>
            </a:endParaRPr>
          </a:p>
          <a:p>
            <a:pPr marL="0" indent="0">
              <a:buFont typeface="Arial"/>
              <a:buNone/>
            </a:pPr>
            <a:endParaRPr lang="en-SG" sz="2400" dirty="0">
              <a:solidFill>
                <a:srgbClr val="000000"/>
              </a:solidFill>
              <a:latin typeface="Arial" panose="020B0604020202020204" pitchFamily="34" charset="0"/>
              <a:cs typeface="Arial" panose="020B0604020202020204" pitchFamily="34" charset="0"/>
            </a:endParaRPr>
          </a:p>
          <a:p>
            <a:pPr marL="0" indent="0">
              <a:buFont typeface="Arial" pitchFamily="34" charset="0"/>
              <a:buNone/>
            </a:pPr>
            <a:endParaRPr lang="en-SG" sz="3200" dirty="0">
              <a:solidFill>
                <a:srgbClr val="000000"/>
              </a:solidFill>
              <a:latin typeface="Arial" panose="020B0604020202020204" pitchFamily="34" charset="0"/>
              <a:cs typeface="Arial" panose="020B0604020202020204" pitchFamily="34" charset="0"/>
            </a:endParaRPr>
          </a:p>
          <a:p>
            <a:endParaRPr lang="en-SG" dirty="0"/>
          </a:p>
        </p:txBody>
      </p:sp>
    </p:spTree>
    <p:extLst>
      <p:ext uri="{BB962C8B-B14F-4D97-AF65-F5344CB8AC3E}">
        <p14:creationId xmlns:p14="http://schemas.microsoft.com/office/powerpoint/2010/main" val="826699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E280-2A37-461B-A9F8-ACF1DFFCA3EB}"/>
              </a:ext>
            </a:extLst>
          </p:cNvPr>
          <p:cNvSpPr>
            <a:spLocks noGrp="1"/>
          </p:cNvSpPr>
          <p:nvPr>
            <p:ph type="title"/>
          </p:nvPr>
        </p:nvSpPr>
        <p:spPr/>
        <p:txBody>
          <a:bodyPr>
            <a:normAutofit/>
          </a:bodyPr>
          <a:lstStyle/>
          <a:p>
            <a:r>
              <a:rPr lang="en-SG" sz="4000" b="1" dirty="0">
                <a:solidFill>
                  <a:srgbClr val="C00000"/>
                </a:solidFill>
              </a:rPr>
              <a:t>Python’s Class</a:t>
            </a:r>
          </a:p>
        </p:txBody>
      </p:sp>
      <p:sp>
        <p:nvSpPr>
          <p:cNvPr id="17" name="Content Placeholder 16">
            <a:extLst>
              <a:ext uri="{FF2B5EF4-FFF2-40B4-BE49-F238E27FC236}">
                <a16:creationId xmlns:a16="http://schemas.microsoft.com/office/drawing/2014/main" id="{05906EB0-2AA7-57C7-6025-33DBFB00C307}"/>
              </a:ext>
            </a:extLst>
          </p:cNvPr>
          <p:cNvSpPr>
            <a:spLocks noGrp="1"/>
          </p:cNvSpPr>
          <p:nvPr>
            <p:ph idx="1"/>
          </p:nvPr>
        </p:nvSpPr>
        <p:spPr>
          <a:xfrm>
            <a:off x="491493" y="1166397"/>
            <a:ext cx="11064724" cy="4924093"/>
          </a:xfrm>
        </p:spPr>
        <p:txBody>
          <a:bodyPr>
            <a:noAutofit/>
          </a:bodyPr>
          <a:lstStyle/>
          <a:p>
            <a:pPr marL="0" indent="0">
              <a:lnSpc>
                <a:spcPct val="100000"/>
              </a:lnSpc>
              <a:spcBef>
                <a:spcPts val="600"/>
              </a:spcBef>
              <a:spcAft>
                <a:spcPts val="0"/>
              </a:spcAft>
              <a:buFont typeface="Arial" pitchFamily="34" charset="0"/>
              <a:buNone/>
            </a:pPr>
            <a:r>
              <a:rPr lang="en-SG" sz="2400" dirty="0">
                <a:latin typeface="Arial" panose="020B0604020202020204" pitchFamily="34" charset="0"/>
                <a:cs typeface="Arial" panose="020B0604020202020204" pitchFamily="34" charset="0"/>
              </a:rPr>
              <a:t>In Python, to create our own custom object in Python</a:t>
            </a:r>
          </a:p>
          <a:p>
            <a:pPr marL="360363" indent="-360363">
              <a:lnSpc>
                <a:spcPct val="100000"/>
              </a:lnSpc>
              <a:spcBef>
                <a:spcPts val="600"/>
              </a:spcBef>
              <a:spcAft>
                <a:spcPts val="0"/>
              </a:spcAft>
            </a:pPr>
            <a:r>
              <a:rPr lang="en-SG" sz="2400" dirty="0">
                <a:latin typeface="Arial" panose="020B0604020202020204" pitchFamily="34" charset="0"/>
                <a:cs typeface="Arial" panose="020B0604020202020204" pitchFamily="34" charset="0"/>
              </a:rPr>
              <a:t>first define a class name </a:t>
            </a:r>
            <a:r>
              <a:rPr lang="en-SG" sz="2400" b="1" dirty="0">
                <a:solidFill>
                  <a:srgbClr val="0070C0"/>
                </a:solidFill>
                <a:latin typeface="Arial" panose="020B0604020202020204" pitchFamily="34" charset="0"/>
                <a:cs typeface="Arial" panose="020B0604020202020204" pitchFamily="34" charset="0"/>
              </a:rPr>
              <a:t>Car</a:t>
            </a:r>
            <a:r>
              <a:rPr lang="en-SG" sz="2400" dirty="0">
                <a:latin typeface="Arial" panose="020B0604020202020204" pitchFamily="34" charset="0"/>
                <a:cs typeface="Arial" panose="020B0604020202020204" pitchFamily="34" charset="0"/>
              </a:rPr>
              <a:t> (use a leading upper case)</a:t>
            </a:r>
          </a:p>
          <a:p>
            <a:pPr marL="722313" indent="-341313">
              <a:lnSpc>
                <a:spcPct val="100000"/>
              </a:lnSpc>
              <a:spcBef>
                <a:spcPts val="600"/>
              </a:spcBef>
              <a:spcAft>
                <a:spcPts val="0"/>
              </a:spcAft>
            </a:pPr>
            <a:r>
              <a:rPr lang="en-SG" sz="2400" dirty="0">
                <a:latin typeface="Arial" panose="020B0604020202020204" pitchFamily="34" charset="0"/>
                <a:cs typeface="Arial" panose="020B0604020202020204" pitchFamily="34" charset="0"/>
              </a:rPr>
              <a:t>using the keyword </a:t>
            </a:r>
            <a:r>
              <a:rPr lang="en-SG" sz="2400" b="1" dirty="0">
                <a:solidFill>
                  <a:srgbClr val="0070C0"/>
                </a:solidFill>
                <a:latin typeface="Arial" panose="020B0604020202020204" pitchFamily="34" charset="0"/>
                <a:cs typeface="Arial" panose="020B0604020202020204" pitchFamily="34" charset="0"/>
              </a:rPr>
              <a:t>class</a:t>
            </a:r>
          </a:p>
          <a:p>
            <a:pPr marL="722313" indent="-341313">
              <a:lnSpc>
                <a:spcPct val="100000"/>
              </a:lnSpc>
              <a:spcBef>
                <a:spcPts val="600"/>
              </a:spcBef>
              <a:spcAft>
                <a:spcPts val="0"/>
              </a:spcAft>
            </a:pPr>
            <a:endParaRPr lang="en-SG" sz="2400" b="1" dirty="0">
              <a:solidFill>
                <a:srgbClr val="0070C0"/>
              </a:solidFill>
              <a:latin typeface="Arial" panose="020B0604020202020204" pitchFamily="34" charset="0"/>
              <a:cs typeface="Arial" panose="020B0604020202020204" pitchFamily="34" charset="0"/>
            </a:endParaRPr>
          </a:p>
          <a:p>
            <a:pPr marL="360363" indent="-360363">
              <a:lnSpc>
                <a:spcPct val="100000"/>
              </a:lnSpc>
              <a:spcBef>
                <a:spcPts val="600"/>
              </a:spcBef>
              <a:spcAft>
                <a:spcPts val="0"/>
              </a:spcAft>
            </a:pPr>
            <a:r>
              <a:rPr lang="en-SG" sz="2400" dirty="0">
                <a:latin typeface="Arial" panose="020B0604020202020204" pitchFamily="34" charset="0"/>
                <a:cs typeface="Arial" panose="020B0604020202020204" pitchFamily="34" charset="0"/>
              </a:rPr>
              <a:t>and define the </a:t>
            </a:r>
            <a:r>
              <a:rPr lang="en-SG" sz="2400" b="1" dirty="0">
                <a:solidFill>
                  <a:srgbClr val="0070C0"/>
                </a:solidFill>
                <a:latin typeface="Courier New" panose="02070309020205020404" pitchFamily="49" charset="0"/>
                <a:cs typeface="Courier New" panose="02070309020205020404" pitchFamily="49" charset="0"/>
              </a:rPr>
              <a:t>_</a:t>
            </a:r>
            <a:r>
              <a:rPr lang="en-SG" sz="1200" b="1" dirty="0">
                <a:solidFill>
                  <a:srgbClr val="0070C0"/>
                </a:solidFill>
                <a:latin typeface="Courier New" panose="02070309020205020404" pitchFamily="49" charset="0"/>
                <a:cs typeface="Courier New" panose="02070309020205020404" pitchFamily="49" charset="0"/>
              </a:rPr>
              <a:t> </a:t>
            </a:r>
            <a:r>
              <a:rPr lang="en-SG" sz="2400" b="1" dirty="0">
                <a:solidFill>
                  <a:srgbClr val="0070C0"/>
                </a:solidFill>
                <a:latin typeface="Courier New" panose="02070309020205020404" pitchFamily="49" charset="0"/>
                <a:cs typeface="Courier New" panose="02070309020205020404" pitchFamily="49" charset="0"/>
              </a:rPr>
              <a:t>_</a:t>
            </a:r>
            <a:r>
              <a:rPr lang="en-SG" sz="2400" b="1" dirty="0" err="1">
                <a:solidFill>
                  <a:srgbClr val="0070C0"/>
                </a:solidFill>
                <a:latin typeface="Courier New" panose="02070309020205020404" pitchFamily="49" charset="0"/>
                <a:cs typeface="Courier New" panose="02070309020205020404" pitchFamily="49" charset="0"/>
              </a:rPr>
              <a:t>init</a:t>
            </a:r>
            <a:r>
              <a:rPr lang="en-SG" sz="2400" b="1" dirty="0">
                <a:solidFill>
                  <a:srgbClr val="0070C0"/>
                </a:solidFill>
                <a:latin typeface="Courier New" panose="02070309020205020404" pitchFamily="49" charset="0"/>
                <a:cs typeface="Courier New" panose="02070309020205020404" pitchFamily="49" charset="0"/>
              </a:rPr>
              <a:t>_</a:t>
            </a:r>
            <a:r>
              <a:rPr lang="en-SG" sz="1400" b="1" dirty="0">
                <a:solidFill>
                  <a:srgbClr val="0070C0"/>
                </a:solidFill>
                <a:latin typeface="Courier New" panose="02070309020205020404" pitchFamily="49" charset="0"/>
                <a:cs typeface="Courier New" panose="02070309020205020404" pitchFamily="49" charset="0"/>
              </a:rPr>
              <a:t> </a:t>
            </a:r>
            <a:r>
              <a:rPr lang="en-SG" sz="2400" b="1" dirty="0">
                <a:solidFill>
                  <a:srgbClr val="0070C0"/>
                </a:solidFill>
                <a:latin typeface="Courier New" panose="02070309020205020404" pitchFamily="49" charset="0"/>
                <a:cs typeface="Courier New" panose="02070309020205020404" pitchFamily="49" charset="0"/>
              </a:rPr>
              <a:t>_()</a:t>
            </a:r>
            <a:r>
              <a:rPr lang="en-SG" sz="2400" dirty="0">
                <a:latin typeface="Arial" panose="020B0604020202020204" pitchFamily="34" charset="0"/>
                <a:cs typeface="Arial" panose="020B0604020202020204" pitchFamily="34" charset="0"/>
              </a:rPr>
              <a:t> method*  (also known as a ‘dunder’ method – see later) </a:t>
            </a:r>
          </a:p>
          <a:p>
            <a:pPr marL="714375" indent="-341313">
              <a:lnSpc>
                <a:spcPct val="100000"/>
              </a:lnSpc>
              <a:spcBef>
                <a:spcPts val="600"/>
              </a:spcBef>
              <a:spcAft>
                <a:spcPts val="0"/>
              </a:spcAft>
            </a:pPr>
            <a:r>
              <a:rPr lang="en-SG" sz="2400" dirty="0">
                <a:latin typeface="Arial" panose="020B0604020202020204" pitchFamily="34" charset="0"/>
                <a:cs typeface="Arial" panose="020B0604020202020204" pitchFamily="34" charset="0"/>
              </a:rPr>
              <a:t>that will be automatically called to initialize the individual object when one is newly created</a:t>
            </a:r>
          </a:p>
          <a:p>
            <a:pPr marL="0" indent="0">
              <a:lnSpc>
                <a:spcPct val="100000"/>
              </a:lnSpc>
              <a:spcBef>
                <a:spcPts val="600"/>
              </a:spcBef>
              <a:spcAft>
                <a:spcPts val="0"/>
              </a:spcAft>
              <a:buNone/>
            </a:pPr>
            <a:endParaRPr lang="en-SG" sz="700" dirty="0">
              <a:latin typeface="Arial" panose="020B0604020202020204" pitchFamily="34" charset="0"/>
              <a:cs typeface="Arial" panose="020B0604020202020204" pitchFamily="34" charset="0"/>
            </a:endParaRPr>
          </a:p>
          <a:p>
            <a:pPr marL="0" indent="0">
              <a:lnSpc>
                <a:spcPct val="100000"/>
              </a:lnSpc>
              <a:spcBef>
                <a:spcPts val="600"/>
              </a:spcBef>
              <a:spcAft>
                <a:spcPts val="0"/>
              </a:spcAft>
              <a:buNone/>
            </a:pPr>
            <a:r>
              <a:rPr lang="en-SG" sz="2400" dirty="0">
                <a:latin typeface="Arial" panose="020B0604020202020204" pitchFamily="34" charset="0"/>
                <a:cs typeface="Arial" panose="020B0604020202020204" pitchFamily="34" charset="0"/>
              </a:rPr>
              <a:t>The first parameter in </a:t>
            </a:r>
            <a:r>
              <a:rPr lang="en-SG" sz="2400" b="1" dirty="0">
                <a:solidFill>
                  <a:srgbClr val="0070C0"/>
                </a:solidFill>
                <a:latin typeface="Courier New" panose="02070309020205020404" pitchFamily="49" charset="0"/>
                <a:cs typeface="Courier New" panose="02070309020205020404" pitchFamily="49" charset="0"/>
              </a:rPr>
              <a:t>_</a:t>
            </a:r>
            <a:r>
              <a:rPr lang="en-SG" sz="1200" b="1" dirty="0">
                <a:solidFill>
                  <a:srgbClr val="0070C0"/>
                </a:solidFill>
                <a:latin typeface="Courier New" panose="02070309020205020404" pitchFamily="49" charset="0"/>
                <a:cs typeface="Courier New" panose="02070309020205020404" pitchFamily="49" charset="0"/>
              </a:rPr>
              <a:t> </a:t>
            </a:r>
            <a:r>
              <a:rPr lang="en-SG" sz="2400" b="1" dirty="0">
                <a:solidFill>
                  <a:srgbClr val="0070C0"/>
                </a:solidFill>
                <a:latin typeface="Courier New" panose="02070309020205020404" pitchFamily="49" charset="0"/>
                <a:cs typeface="Courier New" panose="02070309020205020404" pitchFamily="49" charset="0"/>
              </a:rPr>
              <a:t>_</a:t>
            </a:r>
            <a:r>
              <a:rPr lang="en-SG" sz="2400" b="1" dirty="0" err="1">
                <a:solidFill>
                  <a:srgbClr val="0070C0"/>
                </a:solidFill>
                <a:latin typeface="Courier New" panose="02070309020205020404" pitchFamily="49" charset="0"/>
                <a:cs typeface="Courier New" panose="02070309020205020404" pitchFamily="49" charset="0"/>
              </a:rPr>
              <a:t>init</a:t>
            </a:r>
            <a:r>
              <a:rPr lang="en-SG" sz="2400" b="1" dirty="0">
                <a:solidFill>
                  <a:srgbClr val="0070C0"/>
                </a:solidFill>
                <a:latin typeface="Courier New" panose="02070309020205020404" pitchFamily="49" charset="0"/>
                <a:cs typeface="Courier New" panose="02070309020205020404" pitchFamily="49" charset="0"/>
              </a:rPr>
              <a:t>_</a:t>
            </a:r>
            <a:r>
              <a:rPr lang="en-SG" sz="1400" b="1" dirty="0">
                <a:solidFill>
                  <a:srgbClr val="0070C0"/>
                </a:solidFill>
                <a:latin typeface="Courier New" panose="02070309020205020404" pitchFamily="49" charset="0"/>
                <a:cs typeface="Courier New" panose="02070309020205020404" pitchFamily="49" charset="0"/>
              </a:rPr>
              <a:t> </a:t>
            </a:r>
            <a:r>
              <a:rPr lang="en-SG" sz="2400" b="1" dirty="0">
                <a:solidFill>
                  <a:srgbClr val="0070C0"/>
                </a:solidFill>
                <a:latin typeface="Courier New" panose="02070309020205020404" pitchFamily="49" charset="0"/>
                <a:cs typeface="Courier New" panose="02070309020205020404" pitchFamily="49" charset="0"/>
              </a:rPr>
              <a:t>_()</a:t>
            </a:r>
            <a:r>
              <a:rPr lang="en-SG" sz="2400" dirty="0">
                <a:latin typeface="Arial" panose="020B0604020202020204" pitchFamily="34" charset="0"/>
                <a:cs typeface="Arial" panose="020B0604020202020204" pitchFamily="34" charset="0"/>
              </a:rPr>
              <a:t> is always </a:t>
            </a:r>
            <a:r>
              <a:rPr lang="en-SG" sz="2400" b="1" dirty="0">
                <a:solidFill>
                  <a:srgbClr val="0070C0"/>
                </a:solidFill>
                <a:latin typeface="Courier New" panose="02070309020205020404" pitchFamily="49" charset="0"/>
                <a:cs typeface="Courier New" panose="02070309020205020404" pitchFamily="49" charset="0"/>
              </a:rPr>
              <a:t>self</a:t>
            </a:r>
            <a:endParaRPr lang="en-SG" sz="2400" dirty="0">
              <a:latin typeface="Arial" panose="020B0604020202020204" pitchFamily="34" charset="0"/>
              <a:cs typeface="Arial" panose="020B0604020202020204" pitchFamily="34" charset="0"/>
            </a:endParaRPr>
          </a:p>
          <a:p>
            <a:pPr marL="360363" indent="-360363">
              <a:lnSpc>
                <a:spcPct val="100000"/>
              </a:lnSpc>
              <a:spcBef>
                <a:spcPts val="600"/>
              </a:spcBef>
              <a:spcAft>
                <a:spcPts val="0"/>
              </a:spcAft>
            </a:pPr>
            <a:r>
              <a:rPr lang="en-SG" sz="2400" dirty="0">
                <a:latin typeface="Arial" panose="020B0604020202020204" pitchFamily="34" charset="0"/>
                <a:cs typeface="Arial" panose="020B0604020202020204" pitchFamily="34" charset="0"/>
              </a:rPr>
              <a:t>which will be used to refer to the  object (instance) when it is created </a:t>
            </a:r>
          </a:p>
          <a:p>
            <a:pPr marL="360363" indent="-360363">
              <a:lnSpc>
                <a:spcPct val="100000"/>
              </a:lnSpc>
              <a:spcBef>
                <a:spcPts val="600"/>
              </a:spcBef>
              <a:spcAft>
                <a:spcPts val="0"/>
              </a:spcAft>
            </a:pPr>
            <a:r>
              <a:rPr lang="en-SG" sz="2400" dirty="0">
                <a:latin typeface="Arial" panose="020B0604020202020204" pitchFamily="34" charset="0"/>
                <a:cs typeface="Arial" panose="020B0604020202020204" pitchFamily="34" charset="0"/>
              </a:rPr>
              <a:t>but typical we will also include other parameters in </a:t>
            </a:r>
            <a:r>
              <a:rPr lang="en-SG" sz="2400" b="1" dirty="0">
                <a:solidFill>
                  <a:srgbClr val="0070C0"/>
                </a:solidFill>
                <a:latin typeface="Courier New" panose="02070309020205020404" pitchFamily="49" charset="0"/>
                <a:cs typeface="Courier New" panose="02070309020205020404" pitchFamily="49" charset="0"/>
              </a:rPr>
              <a:t>_</a:t>
            </a:r>
            <a:r>
              <a:rPr lang="en-SG" sz="1200" b="1" dirty="0">
                <a:solidFill>
                  <a:srgbClr val="0070C0"/>
                </a:solidFill>
                <a:latin typeface="Courier New" panose="02070309020205020404" pitchFamily="49" charset="0"/>
                <a:cs typeface="Courier New" panose="02070309020205020404" pitchFamily="49" charset="0"/>
              </a:rPr>
              <a:t> </a:t>
            </a:r>
            <a:r>
              <a:rPr lang="en-SG" sz="2400" b="1" dirty="0">
                <a:solidFill>
                  <a:srgbClr val="0070C0"/>
                </a:solidFill>
                <a:latin typeface="Courier New" panose="02070309020205020404" pitchFamily="49" charset="0"/>
                <a:cs typeface="Courier New" panose="02070309020205020404" pitchFamily="49" charset="0"/>
              </a:rPr>
              <a:t>_</a:t>
            </a:r>
            <a:r>
              <a:rPr lang="en-SG" sz="2400" b="1" dirty="0" err="1">
                <a:solidFill>
                  <a:srgbClr val="0070C0"/>
                </a:solidFill>
                <a:latin typeface="Courier New" panose="02070309020205020404" pitchFamily="49" charset="0"/>
                <a:cs typeface="Courier New" panose="02070309020205020404" pitchFamily="49" charset="0"/>
              </a:rPr>
              <a:t>init</a:t>
            </a:r>
            <a:r>
              <a:rPr lang="en-SG" sz="2400" b="1" dirty="0">
                <a:solidFill>
                  <a:srgbClr val="0070C0"/>
                </a:solidFill>
                <a:latin typeface="Courier New" panose="02070309020205020404" pitchFamily="49" charset="0"/>
                <a:cs typeface="Courier New" panose="02070309020205020404" pitchFamily="49" charset="0"/>
              </a:rPr>
              <a:t>_</a:t>
            </a:r>
            <a:r>
              <a:rPr lang="en-SG" sz="1400" b="1" dirty="0">
                <a:solidFill>
                  <a:srgbClr val="0070C0"/>
                </a:solidFill>
                <a:latin typeface="Courier New" panose="02070309020205020404" pitchFamily="49" charset="0"/>
                <a:cs typeface="Courier New" panose="02070309020205020404" pitchFamily="49" charset="0"/>
              </a:rPr>
              <a:t> </a:t>
            </a:r>
            <a:r>
              <a:rPr lang="en-SG" sz="2400" b="1" dirty="0">
                <a:solidFill>
                  <a:srgbClr val="0070C0"/>
                </a:solidFill>
                <a:latin typeface="Courier New" panose="02070309020205020404" pitchFamily="49" charset="0"/>
                <a:cs typeface="Courier New" panose="02070309020205020404" pitchFamily="49" charset="0"/>
              </a:rPr>
              <a:t>_()</a:t>
            </a:r>
            <a:r>
              <a:rPr lang="en-SG" sz="2400" dirty="0">
                <a:latin typeface="Arial" panose="020B0604020202020204" pitchFamily="34" charset="0"/>
                <a:cs typeface="Arial" panose="020B0604020202020204" pitchFamily="34" charset="0"/>
              </a:rPr>
              <a:t> </a:t>
            </a:r>
            <a:endParaRPr lang="en-SG" sz="1050" dirty="0">
              <a:solidFill>
                <a:srgbClr val="000000"/>
              </a:solidFill>
              <a:latin typeface="Courier New" panose="02070309020205020404" pitchFamily="49" charset="0"/>
              <a:cs typeface="Courier New" panose="02070309020205020404" pitchFamily="49" charset="0"/>
            </a:endParaRPr>
          </a:p>
          <a:p>
            <a:pPr marL="0" indent="0">
              <a:lnSpc>
                <a:spcPct val="100000"/>
              </a:lnSpc>
              <a:spcBef>
                <a:spcPts val="600"/>
              </a:spcBef>
              <a:spcAft>
                <a:spcPts val="0"/>
              </a:spcAft>
              <a:buNone/>
            </a:pPr>
            <a:r>
              <a:rPr lang="en-SG" sz="2400" dirty="0">
                <a:latin typeface="Arial" panose="020B0604020202020204" pitchFamily="34" charset="0"/>
                <a:cs typeface="Arial" panose="020B0604020202020204" pitchFamily="34" charset="0"/>
              </a:rPr>
              <a:t>(*method = function that is applicable to a specific class)</a:t>
            </a:r>
          </a:p>
        </p:txBody>
      </p:sp>
      <p:sp>
        <p:nvSpPr>
          <p:cNvPr id="4" name="Slide Number Placeholder 3">
            <a:extLst>
              <a:ext uri="{FF2B5EF4-FFF2-40B4-BE49-F238E27FC236}">
                <a16:creationId xmlns:a16="http://schemas.microsoft.com/office/drawing/2014/main" id="{F8D19DFC-AC32-01B5-83E0-D60A416FDDD8}"/>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4</a:t>
            </a:fld>
            <a:endParaRPr lang="en-US" dirty="0"/>
          </a:p>
        </p:txBody>
      </p:sp>
      <p:pic>
        <p:nvPicPr>
          <p:cNvPr id="9" name="Picture 8">
            <a:extLst>
              <a:ext uri="{FF2B5EF4-FFF2-40B4-BE49-F238E27FC236}">
                <a16:creationId xmlns:a16="http://schemas.microsoft.com/office/drawing/2014/main" id="{993D71AE-B594-C9A4-0D73-3D96FFFFF18F}"/>
              </a:ext>
            </a:extLst>
          </p:cNvPr>
          <p:cNvPicPr>
            <a:picLocks noChangeAspect="1"/>
          </p:cNvPicPr>
          <p:nvPr/>
        </p:nvPicPr>
        <p:blipFill>
          <a:blip r:embed="rId3"/>
          <a:stretch>
            <a:fillRect/>
          </a:stretch>
        </p:blipFill>
        <p:spPr>
          <a:xfrm>
            <a:off x="5037797" y="2052448"/>
            <a:ext cx="3801403" cy="831557"/>
          </a:xfrm>
          <a:prstGeom prst="rect">
            <a:avLst/>
          </a:prstGeom>
        </p:spPr>
      </p:pic>
    </p:spTree>
    <p:extLst>
      <p:ext uri="{BB962C8B-B14F-4D97-AF65-F5344CB8AC3E}">
        <p14:creationId xmlns:p14="http://schemas.microsoft.com/office/powerpoint/2010/main" val="246037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fade">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fade">
                                      <p:cBhvr>
                                        <p:cTn id="17" dur="500"/>
                                        <p:tgtEl>
                                          <p:spTgt spid="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xEl>
                                              <p:pRg st="4" end="4"/>
                                            </p:txEl>
                                          </p:spTgt>
                                        </p:tgtEl>
                                        <p:attrNameLst>
                                          <p:attrName>style.visibility</p:attrName>
                                        </p:attrNameLst>
                                      </p:cBhvr>
                                      <p:to>
                                        <p:strVal val="visible"/>
                                      </p:to>
                                    </p:set>
                                    <p:animEffect transition="in" filter="fade">
                                      <p:cBhvr>
                                        <p:cTn id="27" dur="500"/>
                                        <p:tgtEl>
                                          <p:spTgt spid="1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xEl>
                                              <p:pRg st="10" end="10"/>
                                            </p:txEl>
                                          </p:spTgt>
                                        </p:tgtEl>
                                        <p:attrNameLst>
                                          <p:attrName>style.visibility</p:attrName>
                                        </p:attrNameLst>
                                      </p:cBhvr>
                                      <p:to>
                                        <p:strVal val="visible"/>
                                      </p:to>
                                    </p:set>
                                    <p:animEffect transition="in" filter="fade">
                                      <p:cBhvr>
                                        <p:cTn id="32" dur="500"/>
                                        <p:tgtEl>
                                          <p:spTgt spid="17">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xEl>
                                              <p:pRg st="5" end="5"/>
                                            </p:txEl>
                                          </p:spTgt>
                                        </p:tgtEl>
                                        <p:attrNameLst>
                                          <p:attrName>style.visibility</p:attrName>
                                        </p:attrNameLst>
                                      </p:cBhvr>
                                      <p:to>
                                        <p:strVal val="visible"/>
                                      </p:to>
                                    </p:set>
                                    <p:animEffect transition="in" filter="fade">
                                      <p:cBhvr>
                                        <p:cTn id="37" dur="500"/>
                                        <p:tgtEl>
                                          <p:spTgt spid="1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
                                            <p:txEl>
                                              <p:pRg st="7" end="7"/>
                                            </p:txEl>
                                          </p:spTgt>
                                        </p:tgtEl>
                                        <p:attrNameLst>
                                          <p:attrName>style.visibility</p:attrName>
                                        </p:attrNameLst>
                                      </p:cBhvr>
                                      <p:to>
                                        <p:strVal val="visible"/>
                                      </p:to>
                                    </p:set>
                                    <p:animEffect transition="in" filter="fade">
                                      <p:cBhvr>
                                        <p:cTn id="42" dur="500"/>
                                        <p:tgtEl>
                                          <p:spTgt spid="1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
                                            <p:txEl>
                                              <p:pRg st="8" end="8"/>
                                            </p:txEl>
                                          </p:spTgt>
                                        </p:tgtEl>
                                        <p:attrNameLst>
                                          <p:attrName>style.visibility</p:attrName>
                                        </p:attrNameLst>
                                      </p:cBhvr>
                                      <p:to>
                                        <p:strVal val="visible"/>
                                      </p:to>
                                    </p:set>
                                    <p:animEffect transition="in" filter="fade">
                                      <p:cBhvr>
                                        <p:cTn id="47" dur="500"/>
                                        <p:tgtEl>
                                          <p:spTgt spid="1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7">
                                            <p:txEl>
                                              <p:pRg st="9" end="9"/>
                                            </p:txEl>
                                          </p:spTgt>
                                        </p:tgtEl>
                                        <p:attrNameLst>
                                          <p:attrName>style.visibility</p:attrName>
                                        </p:attrNameLst>
                                      </p:cBhvr>
                                      <p:to>
                                        <p:strVal val="visible"/>
                                      </p:to>
                                    </p:set>
                                    <p:animEffect transition="in" filter="fade">
                                      <p:cBhvr>
                                        <p:cTn id="52" dur="500"/>
                                        <p:tgtEl>
                                          <p:spTgt spid="1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E280-2A37-461B-A9F8-ACF1DFFCA3EB}"/>
              </a:ext>
            </a:extLst>
          </p:cNvPr>
          <p:cNvSpPr>
            <a:spLocks noGrp="1"/>
          </p:cNvSpPr>
          <p:nvPr>
            <p:ph type="title"/>
          </p:nvPr>
        </p:nvSpPr>
        <p:spPr/>
        <p:txBody>
          <a:bodyPr>
            <a:normAutofit/>
          </a:bodyPr>
          <a:lstStyle/>
          <a:p>
            <a:r>
              <a:rPr lang="en-SG" sz="4000" b="1" dirty="0">
                <a:solidFill>
                  <a:srgbClr val="C00000"/>
                </a:solidFill>
              </a:rPr>
              <a:t>Attributes</a:t>
            </a:r>
          </a:p>
        </p:txBody>
      </p:sp>
      <p:sp>
        <p:nvSpPr>
          <p:cNvPr id="17" name="Content Placeholder 16">
            <a:extLst>
              <a:ext uri="{FF2B5EF4-FFF2-40B4-BE49-F238E27FC236}">
                <a16:creationId xmlns:a16="http://schemas.microsoft.com/office/drawing/2014/main" id="{05906EB0-2AA7-57C7-6025-33DBFB00C307}"/>
              </a:ext>
            </a:extLst>
          </p:cNvPr>
          <p:cNvSpPr>
            <a:spLocks noGrp="1"/>
          </p:cNvSpPr>
          <p:nvPr>
            <p:ph idx="1"/>
          </p:nvPr>
        </p:nvSpPr>
        <p:spPr/>
        <p:txBody>
          <a:bodyPr>
            <a:normAutofit/>
          </a:bodyPr>
          <a:lstStyle/>
          <a:p>
            <a:pPr marL="0" indent="0">
              <a:lnSpc>
                <a:spcPct val="100000"/>
              </a:lnSpc>
              <a:spcBef>
                <a:spcPts val="600"/>
              </a:spcBef>
              <a:spcAft>
                <a:spcPts val="0"/>
              </a:spcAft>
              <a:buNone/>
            </a:pPr>
            <a:r>
              <a:rPr lang="en-SG" sz="2400" dirty="0">
                <a:latin typeface="Arial" panose="020B0604020202020204" pitchFamily="34" charset="0"/>
                <a:cs typeface="Arial" panose="020B0604020202020204" pitchFamily="34" charset="0"/>
              </a:rPr>
              <a:t>We then add </a:t>
            </a:r>
            <a:r>
              <a:rPr lang="en-SG" sz="2400" b="1" dirty="0">
                <a:solidFill>
                  <a:srgbClr val="0070C0"/>
                </a:solidFill>
                <a:latin typeface="Arial" panose="020B0604020202020204" pitchFamily="34" charset="0"/>
                <a:cs typeface="Arial" panose="020B0604020202020204" pitchFamily="34" charset="0"/>
              </a:rPr>
              <a:t>brand </a:t>
            </a:r>
            <a:r>
              <a:rPr lang="en-SG" sz="2400" dirty="0">
                <a:latin typeface="Arial" panose="020B0604020202020204" pitchFamily="34" charset="0"/>
                <a:cs typeface="Arial" panose="020B0604020202020204" pitchFamily="34" charset="0"/>
              </a:rPr>
              <a:t>and</a:t>
            </a:r>
            <a:r>
              <a:rPr lang="en-SG" sz="2400" b="1" dirty="0">
                <a:solidFill>
                  <a:srgbClr val="0070C0"/>
                </a:solidFill>
                <a:latin typeface="Arial" panose="020B0604020202020204" pitchFamily="34" charset="0"/>
                <a:cs typeface="Arial" panose="020B0604020202020204" pitchFamily="34" charset="0"/>
              </a:rPr>
              <a:t> model</a:t>
            </a:r>
          </a:p>
          <a:p>
            <a:pPr marL="358775" indent="-358775">
              <a:lnSpc>
                <a:spcPct val="100000"/>
              </a:lnSpc>
              <a:spcBef>
                <a:spcPts val="600"/>
              </a:spcBef>
              <a:spcAft>
                <a:spcPts val="0"/>
              </a:spcAft>
            </a:pPr>
            <a:r>
              <a:rPr lang="en-SG" sz="2400" dirty="0">
                <a:latin typeface="Arial" panose="020B0604020202020204" pitchFamily="34" charset="0"/>
                <a:cs typeface="Arial" panose="020B0604020202020204" pitchFamily="34" charset="0"/>
              </a:rPr>
              <a:t>which are known as </a:t>
            </a:r>
            <a:r>
              <a:rPr lang="en-SG" sz="2400" dirty="0">
                <a:solidFill>
                  <a:srgbClr val="00B050"/>
                </a:solidFill>
                <a:latin typeface="Arial" panose="020B0604020202020204" pitchFamily="34" charset="0"/>
                <a:cs typeface="Arial" panose="020B0604020202020204" pitchFamily="34" charset="0"/>
              </a:rPr>
              <a:t>Instance</a:t>
            </a:r>
            <a:r>
              <a:rPr lang="en-SG" sz="2400" dirty="0">
                <a:latin typeface="Arial" panose="020B0604020202020204" pitchFamily="34" charset="0"/>
                <a:cs typeface="Arial" panose="020B0604020202020204" pitchFamily="34" charset="0"/>
              </a:rPr>
              <a:t> attributes</a:t>
            </a:r>
          </a:p>
          <a:p>
            <a:pPr marL="0" indent="0">
              <a:lnSpc>
                <a:spcPct val="100000"/>
              </a:lnSpc>
              <a:spcBef>
                <a:spcPts val="600"/>
              </a:spcBef>
              <a:spcAft>
                <a:spcPts val="0"/>
              </a:spcAft>
              <a:buNone/>
            </a:pPr>
            <a:endParaRPr lang="en-SG" sz="2400" dirty="0">
              <a:latin typeface="Arial" panose="020B0604020202020204" pitchFamily="34" charset="0"/>
              <a:cs typeface="Arial" panose="020B0604020202020204" pitchFamily="34" charset="0"/>
            </a:endParaRPr>
          </a:p>
          <a:p>
            <a:pPr marL="0" indent="0">
              <a:lnSpc>
                <a:spcPct val="100000"/>
              </a:lnSpc>
              <a:spcBef>
                <a:spcPts val="600"/>
              </a:spcBef>
              <a:spcAft>
                <a:spcPts val="0"/>
              </a:spcAft>
              <a:buNone/>
            </a:pPr>
            <a:endParaRPr lang="en-SG" sz="2400" dirty="0">
              <a:latin typeface="Arial" panose="020B0604020202020204" pitchFamily="34" charset="0"/>
              <a:cs typeface="Arial" panose="020B0604020202020204" pitchFamily="34" charset="0"/>
            </a:endParaRPr>
          </a:p>
          <a:p>
            <a:pPr marL="0" indent="0">
              <a:lnSpc>
                <a:spcPct val="100000"/>
              </a:lnSpc>
              <a:spcBef>
                <a:spcPts val="600"/>
              </a:spcBef>
              <a:spcAft>
                <a:spcPts val="0"/>
              </a:spcAft>
              <a:buNone/>
            </a:pPr>
            <a:endParaRPr lang="en-SG" sz="2400" dirty="0">
              <a:latin typeface="Arial" panose="020B0604020202020204" pitchFamily="34" charset="0"/>
              <a:cs typeface="Arial" panose="020B0604020202020204" pitchFamily="34" charset="0"/>
            </a:endParaRPr>
          </a:p>
          <a:p>
            <a:pPr marL="0" indent="0">
              <a:lnSpc>
                <a:spcPct val="100000"/>
              </a:lnSpc>
              <a:spcBef>
                <a:spcPts val="600"/>
              </a:spcBef>
              <a:spcAft>
                <a:spcPts val="0"/>
              </a:spcAft>
              <a:buNone/>
            </a:pPr>
            <a:endParaRPr lang="en-SG" sz="2400" dirty="0">
              <a:latin typeface="Arial" panose="020B0604020202020204" pitchFamily="34" charset="0"/>
              <a:cs typeface="Arial" panose="020B0604020202020204" pitchFamily="34" charset="0"/>
            </a:endParaRPr>
          </a:p>
          <a:p>
            <a:pPr marL="0" indent="0">
              <a:lnSpc>
                <a:spcPct val="100000"/>
              </a:lnSpc>
              <a:spcBef>
                <a:spcPts val="600"/>
              </a:spcBef>
              <a:spcAft>
                <a:spcPts val="0"/>
              </a:spcAft>
              <a:buNone/>
            </a:pPr>
            <a:r>
              <a:rPr lang="en-SG" sz="2400" dirty="0">
                <a:latin typeface="Arial" panose="020B0604020202020204" pitchFamily="34" charset="0"/>
                <a:cs typeface="Arial" panose="020B0604020202020204" pitchFamily="34" charset="0"/>
              </a:rPr>
              <a:t>Attribute that is common to all instances</a:t>
            </a:r>
          </a:p>
          <a:p>
            <a:pPr marL="358775" indent="-358775">
              <a:lnSpc>
                <a:spcPct val="100000"/>
              </a:lnSpc>
              <a:spcBef>
                <a:spcPts val="600"/>
              </a:spcBef>
              <a:spcAft>
                <a:spcPts val="0"/>
              </a:spcAft>
            </a:pPr>
            <a:r>
              <a:rPr lang="en-SG" sz="2400" dirty="0">
                <a:latin typeface="Arial" panose="020B0604020202020204" pitchFamily="34" charset="0"/>
                <a:cs typeface="Arial" panose="020B0604020202020204" pitchFamily="34" charset="0"/>
              </a:rPr>
              <a:t>is called the </a:t>
            </a:r>
            <a:r>
              <a:rPr lang="en-SG" sz="2400" dirty="0">
                <a:solidFill>
                  <a:srgbClr val="00B050"/>
                </a:solidFill>
                <a:latin typeface="Arial" panose="020B0604020202020204" pitchFamily="34" charset="0"/>
                <a:cs typeface="Arial" panose="020B0604020202020204" pitchFamily="34" charset="0"/>
              </a:rPr>
              <a:t>Class</a:t>
            </a:r>
            <a:r>
              <a:rPr lang="en-SG" sz="2400" dirty="0">
                <a:latin typeface="Arial" panose="020B0604020202020204" pitchFamily="34" charset="0"/>
                <a:cs typeface="Arial" panose="020B0604020202020204" pitchFamily="34" charset="0"/>
              </a:rPr>
              <a:t> attribute</a:t>
            </a:r>
          </a:p>
          <a:p>
            <a:pPr marL="0" indent="0">
              <a:buNone/>
            </a:pPr>
            <a:endParaRPr lang="en-SG" sz="2400" dirty="0"/>
          </a:p>
          <a:p>
            <a:endParaRPr lang="en-SG" dirty="0"/>
          </a:p>
        </p:txBody>
      </p:sp>
      <p:sp>
        <p:nvSpPr>
          <p:cNvPr id="4" name="Slide Number Placeholder 3">
            <a:extLst>
              <a:ext uri="{FF2B5EF4-FFF2-40B4-BE49-F238E27FC236}">
                <a16:creationId xmlns:a16="http://schemas.microsoft.com/office/drawing/2014/main" id="{F8D19DFC-AC32-01B5-83E0-D60A416FDDD8}"/>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5</a:t>
            </a:fld>
            <a:endParaRPr lang="en-US" dirty="0"/>
          </a:p>
        </p:txBody>
      </p:sp>
      <p:pic>
        <p:nvPicPr>
          <p:cNvPr id="10" name="Picture 9">
            <a:extLst>
              <a:ext uri="{FF2B5EF4-FFF2-40B4-BE49-F238E27FC236}">
                <a16:creationId xmlns:a16="http://schemas.microsoft.com/office/drawing/2014/main" id="{0EE28793-A733-DB1A-89C4-4DB7BA9A457B}"/>
              </a:ext>
            </a:extLst>
          </p:cNvPr>
          <p:cNvPicPr>
            <a:picLocks noChangeAspect="1"/>
          </p:cNvPicPr>
          <p:nvPr/>
        </p:nvPicPr>
        <p:blipFill>
          <a:blip r:embed="rId2"/>
          <a:stretch>
            <a:fillRect/>
          </a:stretch>
        </p:blipFill>
        <p:spPr>
          <a:xfrm>
            <a:off x="1860811" y="4958006"/>
            <a:ext cx="7075090" cy="1479081"/>
          </a:xfrm>
          <a:prstGeom prst="rect">
            <a:avLst/>
          </a:prstGeom>
        </p:spPr>
      </p:pic>
      <p:pic>
        <p:nvPicPr>
          <p:cNvPr id="12" name="Picture 11">
            <a:extLst>
              <a:ext uri="{FF2B5EF4-FFF2-40B4-BE49-F238E27FC236}">
                <a16:creationId xmlns:a16="http://schemas.microsoft.com/office/drawing/2014/main" id="{A2C3F20F-8E86-408F-5306-8A4CEA64950A}"/>
              </a:ext>
            </a:extLst>
          </p:cNvPr>
          <p:cNvPicPr>
            <a:picLocks noChangeAspect="1"/>
          </p:cNvPicPr>
          <p:nvPr/>
        </p:nvPicPr>
        <p:blipFill>
          <a:blip r:embed="rId3"/>
          <a:stretch>
            <a:fillRect/>
          </a:stretch>
        </p:blipFill>
        <p:spPr>
          <a:xfrm>
            <a:off x="1860811" y="2233386"/>
            <a:ext cx="6198174" cy="1339049"/>
          </a:xfrm>
          <a:prstGeom prst="rect">
            <a:avLst/>
          </a:prstGeom>
        </p:spPr>
      </p:pic>
    </p:spTree>
    <p:extLst>
      <p:ext uri="{BB962C8B-B14F-4D97-AF65-F5344CB8AC3E}">
        <p14:creationId xmlns:p14="http://schemas.microsoft.com/office/powerpoint/2010/main" val="166329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fade">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xEl>
                                              <p:pRg st="6" end="6"/>
                                            </p:txEl>
                                          </p:spTgt>
                                        </p:tgtEl>
                                        <p:attrNameLst>
                                          <p:attrName>style.visibility</p:attrName>
                                        </p:attrNameLst>
                                      </p:cBhvr>
                                      <p:to>
                                        <p:strVal val="visible"/>
                                      </p:to>
                                    </p:set>
                                    <p:animEffect transition="in" filter="fade">
                                      <p:cBhvr>
                                        <p:cTn id="22" dur="500"/>
                                        <p:tgtEl>
                                          <p:spTgt spid="17">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xEl>
                                              <p:pRg st="7" end="7"/>
                                            </p:txEl>
                                          </p:spTgt>
                                        </p:tgtEl>
                                        <p:attrNameLst>
                                          <p:attrName>style.visibility</p:attrName>
                                        </p:attrNameLst>
                                      </p:cBhvr>
                                      <p:to>
                                        <p:strVal val="visible"/>
                                      </p:to>
                                    </p:set>
                                    <p:animEffect transition="in" filter="fade">
                                      <p:cBhvr>
                                        <p:cTn id="27" dur="500"/>
                                        <p:tgtEl>
                                          <p:spTgt spid="17">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E280-2A37-461B-A9F8-ACF1DFFCA3EB}"/>
              </a:ext>
            </a:extLst>
          </p:cNvPr>
          <p:cNvSpPr>
            <a:spLocks noGrp="1"/>
          </p:cNvSpPr>
          <p:nvPr>
            <p:ph type="title"/>
          </p:nvPr>
        </p:nvSpPr>
        <p:spPr/>
        <p:txBody>
          <a:bodyPr>
            <a:normAutofit/>
          </a:bodyPr>
          <a:lstStyle/>
          <a:p>
            <a:r>
              <a:rPr lang="en-SG" sz="4000" b="1" dirty="0">
                <a:solidFill>
                  <a:srgbClr val="C00000"/>
                </a:solidFill>
              </a:rPr>
              <a:t>Object and Class Instance</a:t>
            </a:r>
          </a:p>
        </p:txBody>
      </p:sp>
      <p:sp>
        <p:nvSpPr>
          <p:cNvPr id="5" name="Content Placeholder 4">
            <a:extLst>
              <a:ext uri="{FF2B5EF4-FFF2-40B4-BE49-F238E27FC236}">
                <a16:creationId xmlns:a16="http://schemas.microsoft.com/office/drawing/2014/main" id="{16D2EA23-1860-616C-2195-AF9368ADF8D2}"/>
              </a:ext>
            </a:extLst>
          </p:cNvPr>
          <p:cNvSpPr>
            <a:spLocks noGrp="1"/>
          </p:cNvSpPr>
          <p:nvPr>
            <p:ph idx="1"/>
          </p:nvPr>
        </p:nvSpPr>
        <p:spPr/>
        <p:txBody>
          <a:bodyPr>
            <a:normAutofit/>
          </a:bodyPr>
          <a:lstStyle/>
          <a:p>
            <a:pPr marL="0" indent="0">
              <a:buNone/>
            </a:pPr>
            <a:r>
              <a:rPr lang="en-SG" sz="2400" dirty="0">
                <a:latin typeface="Arial" panose="020B0604020202020204" pitchFamily="34" charset="0"/>
                <a:cs typeface="Arial" panose="020B0604020202020204" pitchFamily="34" charset="0"/>
              </a:rPr>
              <a:t>We can then </a:t>
            </a:r>
            <a:r>
              <a:rPr lang="en-SG" sz="2400" dirty="0">
                <a:solidFill>
                  <a:srgbClr val="FF0000"/>
                </a:solidFill>
                <a:latin typeface="Arial" panose="020B0604020202020204" pitchFamily="34" charset="0"/>
                <a:cs typeface="Arial" panose="020B0604020202020204" pitchFamily="34" charset="0"/>
              </a:rPr>
              <a:t>create an object based on the class </a:t>
            </a:r>
            <a:r>
              <a:rPr lang="en-SG" sz="2400" dirty="0">
                <a:latin typeface="Arial" panose="020B0604020202020204" pitchFamily="34" charset="0"/>
                <a:cs typeface="Arial" panose="020B0604020202020204" pitchFamily="34" charset="0"/>
              </a:rPr>
              <a:t>that we have defined</a:t>
            </a:r>
          </a:p>
          <a:p>
            <a:r>
              <a:rPr lang="en-SG" sz="2400" dirty="0">
                <a:latin typeface="Arial" panose="020B0604020202020204" pitchFamily="34" charset="0"/>
                <a:cs typeface="Arial" panose="020B0604020202020204" pitchFamily="34" charset="0"/>
              </a:rPr>
              <a:t>  which are also known as a class </a:t>
            </a:r>
            <a:r>
              <a:rPr lang="en-SG" sz="2400" dirty="0">
                <a:solidFill>
                  <a:srgbClr val="FF0000"/>
                </a:solidFill>
                <a:latin typeface="Arial" panose="020B0604020202020204" pitchFamily="34" charset="0"/>
                <a:cs typeface="Arial" panose="020B0604020202020204" pitchFamily="34" charset="0"/>
              </a:rPr>
              <a:t>instance</a:t>
            </a:r>
          </a:p>
        </p:txBody>
      </p:sp>
      <p:sp>
        <p:nvSpPr>
          <p:cNvPr id="4" name="Slide Number Placeholder 3">
            <a:extLst>
              <a:ext uri="{FF2B5EF4-FFF2-40B4-BE49-F238E27FC236}">
                <a16:creationId xmlns:a16="http://schemas.microsoft.com/office/drawing/2014/main" id="{F8D19DFC-AC32-01B5-83E0-D60A416FDDD8}"/>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6</a:t>
            </a:fld>
            <a:endParaRPr lang="en-US" dirty="0"/>
          </a:p>
        </p:txBody>
      </p:sp>
      <p:pic>
        <p:nvPicPr>
          <p:cNvPr id="10" name="Picture 9">
            <a:extLst>
              <a:ext uri="{FF2B5EF4-FFF2-40B4-BE49-F238E27FC236}">
                <a16:creationId xmlns:a16="http://schemas.microsoft.com/office/drawing/2014/main" id="{4CBC3F4A-3F0A-B25E-2E11-6D42E825082E}"/>
              </a:ext>
            </a:extLst>
          </p:cNvPr>
          <p:cNvPicPr>
            <a:picLocks noChangeAspect="1"/>
          </p:cNvPicPr>
          <p:nvPr/>
        </p:nvPicPr>
        <p:blipFill>
          <a:blip r:embed="rId3"/>
          <a:stretch>
            <a:fillRect/>
          </a:stretch>
        </p:blipFill>
        <p:spPr>
          <a:xfrm>
            <a:off x="1555303" y="2243417"/>
            <a:ext cx="6584626" cy="2192148"/>
          </a:xfrm>
          <a:prstGeom prst="rect">
            <a:avLst/>
          </a:prstGeom>
        </p:spPr>
      </p:pic>
      <p:pic>
        <p:nvPicPr>
          <p:cNvPr id="12" name="Picture 11">
            <a:extLst>
              <a:ext uri="{FF2B5EF4-FFF2-40B4-BE49-F238E27FC236}">
                <a16:creationId xmlns:a16="http://schemas.microsoft.com/office/drawing/2014/main" id="{9AEE264B-63B7-5E5B-3FA2-A0E2E6B64BAB}"/>
              </a:ext>
            </a:extLst>
          </p:cNvPr>
          <p:cNvPicPr>
            <a:picLocks noChangeAspect="1"/>
          </p:cNvPicPr>
          <p:nvPr/>
        </p:nvPicPr>
        <p:blipFill>
          <a:blip r:embed="rId4"/>
          <a:stretch>
            <a:fillRect/>
          </a:stretch>
        </p:blipFill>
        <p:spPr>
          <a:xfrm>
            <a:off x="1555303" y="4435565"/>
            <a:ext cx="5893183" cy="642559"/>
          </a:xfrm>
          <a:prstGeom prst="rect">
            <a:avLst/>
          </a:prstGeom>
        </p:spPr>
      </p:pic>
      <p:pic>
        <p:nvPicPr>
          <p:cNvPr id="14" name="Picture 13">
            <a:extLst>
              <a:ext uri="{FF2B5EF4-FFF2-40B4-BE49-F238E27FC236}">
                <a16:creationId xmlns:a16="http://schemas.microsoft.com/office/drawing/2014/main" id="{53491BE6-A738-4DDB-47DE-99FF6B12A999}"/>
              </a:ext>
            </a:extLst>
          </p:cNvPr>
          <p:cNvPicPr>
            <a:picLocks noChangeAspect="1"/>
          </p:cNvPicPr>
          <p:nvPr/>
        </p:nvPicPr>
        <p:blipFill>
          <a:blip r:embed="rId5"/>
          <a:stretch>
            <a:fillRect/>
          </a:stretch>
        </p:blipFill>
        <p:spPr>
          <a:xfrm>
            <a:off x="826408" y="5342569"/>
            <a:ext cx="6387121" cy="993937"/>
          </a:xfrm>
          <a:prstGeom prst="rect">
            <a:avLst/>
          </a:prstGeom>
        </p:spPr>
      </p:pic>
      <p:pic>
        <p:nvPicPr>
          <p:cNvPr id="16" name="Picture 15">
            <a:extLst>
              <a:ext uri="{FF2B5EF4-FFF2-40B4-BE49-F238E27FC236}">
                <a16:creationId xmlns:a16="http://schemas.microsoft.com/office/drawing/2014/main" id="{B31C9DB0-62FF-71B2-BD25-FF3F205A682C}"/>
              </a:ext>
            </a:extLst>
          </p:cNvPr>
          <p:cNvPicPr>
            <a:picLocks noChangeAspect="1"/>
          </p:cNvPicPr>
          <p:nvPr/>
        </p:nvPicPr>
        <p:blipFill>
          <a:blip r:embed="rId6"/>
          <a:stretch>
            <a:fillRect/>
          </a:stretch>
        </p:blipFill>
        <p:spPr>
          <a:xfrm>
            <a:off x="8296508" y="5342569"/>
            <a:ext cx="2212589" cy="993937"/>
          </a:xfrm>
          <a:prstGeom prst="rect">
            <a:avLst/>
          </a:prstGeom>
        </p:spPr>
      </p:pic>
    </p:spTree>
    <p:extLst>
      <p:ext uri="{BB962C8B-B14F-4D97-AF65-F5344CB8AC3E}">
        <p14:creationId xmlns:p14="http://schemas.microsoft.com/office/powerpoint/2010/main" val="433069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E280-2A37-461B-A9F8-ACF1DFFCA3EB}"/>
              </a:ext>
            </a:extLst>
          </p:cNvPr>
          <p:cNvSpPr>
            <a:spLocks noGrp="1"/>
          </p:cNvSpPr>
          <p:nvPr>
            <p:ph type="title"/>
          </p:nvPr>
        </p:nvSpPr>
        <p:spPr/>
        <p:txBody>
          <a:bodyPr>
            <a:normAutofit/>
          </a:bodyPr>
          <a:lstStyle/>
          <a:p>
            <a:r>
              <a:rPr lang="en-SG" sz="4000" b="1" dirty="0">
                <a:solidFill>
                  <a:srgbClr val="C00000"/>
                </a:solidFill>
              </a:rPr>
              <a:t>Modifying an Instance</a:t>
            </a:r>
          </a:p>
        </p:txBody>
      </p:sp>
      <p:sp>
        <p:nvSpPr>
          <p:cNvPr id="5" name="Content Placeholder 4">
            <a:extLst>
              <a:ext uri="{FF2B5EF4-FFF2-40B4-BE49-F238E27FC236}">
                <a16:creationId xmlns:a16="http://schemas.microsoft.com/office/drawing/2014/main" id="{16D2EA23-1860-616C-2195-AF9368ADF8D2}"/>
              </a:ext>
            </a:extLst>
          </p:cNvPr>
          <p:cNvSpPr>
            <a:spLocks noGrp="1"/>
          </p:cNvSpPr>
          <p:nvPr>
            <p:ph idx="1"/>
          </p:nvPr>
        </p:nvSpPr>
        <p:spPr/>
        <p:txBody>
          <a:bodyPr>
            <a:noAutofit/>
          </a:bodyPr>
          <a:lstStyle/>
          <a:p>
            <a:pPr marL="0" indent="0">
              <a:buNone/>
            </a:pPr>
            <a:r>
              <a:rPr lang="en-SG" sz="2400" dirty="0">
                <a:solidFill>
                  <a:srgbClr val="373A3C"/>
                </a:solidFill>
                <a:effectLst/>
                <a:latin typeface="Arial" panose="020B0604020202020204" pitchFamily="34" charset="0"/>
                <a:ea typeface="DengXian" panose="02010600030101010101" pitchFamily="2" charset="-122"/>
                <a:cs typeface="Arial" panose="020B0604020202020204" pitchFamily="34" charset="0"/>
              </a:rPr>
              <a:t>We can change the attribute of an instance:</a:t>
            </a: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endParaRPr lang="en-SG" sz="2400" dirty="0">
              <a:solidFill>
                <a:srgbClr val="373A3C"/>
              </a:solidFill>
              <a:effectLst/>
              <a:latin typeface="Arial" panose="020B0604020202020204" pitchFamily="34" charset="0"/>
              <a:ea typeface="DengXian" panose="02010600030101010101" pitchFamily="2" charset="-122"/>
              <a:cs typeface="Arial" panose="020B0604020202020204" pitchFamily="34" charset="0"/>
            </a:endParaRPr>
          </a:p>
          <a:p>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endParaRPr lang="en-SG" sz="2400" dirty="0">
              <a:solidFill>
                <a:srgbClr val="373A3C"/>
              </a:solidFill>
              <a:effectLst/>
              <a:latin typeface="Arial" panose="020B0604020202020204" pitchFamily="34" charset="0"/>
              <a:ea typeface="DengXian" panose="02010600030101010101" pitchFamily="2" charset="-122"/>
              <a:cs typeface="Arial" panose="020B0604020202020204" pitchFamily="34" charset="0"/>
            </a:endParaRPr>
          </a:p>
          <a:p>
            <a:pPr marL="0" indent="0">
              <a:buNone/>
            </a:pP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We can delete the instance’s attribute, and the instance itself using the </a:t>
            </a:r>
            <a:r>
              <a:rPr lang="en-SG" sz="2400" b="1" dirty="0">
                <a:solidFill>
                  <a:srgbClr val="00B050"/>
                </a:solidFill>
                <a:latin typeface="Arial" panose="020B0604020202020204" pitchFamily="34" charset="0"/>
                <a:ea typeface="DengXian" panose="02010600030101010101" pitchFamily="2" charset="-122"/>
                <a:cs typeface="Arial" panose="020B0604020202020204" pitchFamily="34" charset="0"/>
              </a:rPr>
              <a:t>del</a:t>
            </a: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 keyword:</a:t>
            </a:r>
            <a:endParaRPr lang="en-SG" sz="2400" dirty="0">
              <a:effectLst/>
              <a:latin typeface="Arial" panose="020B0604020202020204" pitchFamily="34" charset="0"/>
              <a:ea typeface="DengXian" panose="02010600030101010101" pitchFamily="2" charset="-122"/>
              <a:cs typeface="Arial" panose="020B0604020202020204" pitchFamily="34" charset="0"/>
            </a:endParaRPr>
          </a:p>
          <a:p>
            <a:pPr marL="0" indent="0">
              <a:buNone/>
            </a:pPr>
            <a:endParaRPr lang="en-SG" sz="2400" dirty="0">
              <a:latin typeface="Arial" panose="020B0604020202020204" pitchFamily="34" charset="0"/>
              <a:cs typeface="Arial" panose="020B0604020202020204" pitchFamily="34" charset="0"/>
            </a:endParaRPr>
          </a:p>
          <a:p>
            <a:pPr marL="0" indent="0">
              <a:buNone/>
            </a:pPr>
            <a:endParaRPr lang="en-SG" sz="2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8D19DFC-AC32-01B5-83E0-D60A416FDDD8}"/>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7</a:t>
            </a:fld>
            <a:endParaRPr lang="en-US" dirty="0"/>
          </a:p>
        </p:txBody>
      </p:sp>
      <p:pic>
        <p:nvPicPr>
          <p:cNvPr id="7" name="Picture 6">
            <a:extLst>
              <a:ext uri="{FF2B5EF4-FFF2-40B4-BE49-F238E27FC236}">
                <a16:creationId xmlns:a16="http://schemas.microsoft.com/office/drawing/2014/main" id="{E387580B-4353-D4B5-61A5-8C3C0B328D8D}"/>
              </a:ext>
            </a:extLst>
          </p:cNvPr>
          <p:cNvPicPr>
            <a:picLocks noChangeAspect="1"/>
          </p:cNvPicPr>
          <p:nvPr/>
        </p:nvPicPr>
        <p:blipFill>
          <a:blip r:embed="rId3"/>
          <a:stretch>
            <a:fillRect/>
          </a:stretch>
        </p:blipFill>
        <p:spPr>
          <a:xfrm>
            <a:off x="349017" y="1769808"/>
            <a:ext cx="11421393" cy="1469700"/>
          </a:xfrm>
          <a:prstGeom prst="rect">
            <a:avLst/>
          </a:prstGeom>
        </p:spPr>
      </p:pic>
      <p:pic>
        <p:nvPicPr>
          <p:cNvPr id="11" name="Picture 10">
            <a:extLst>
              <a:ext uri="{FF2B5EF4-FFF2-40B4-BE49-F238E27FC236}">
                <a16:creationId xmlns:a16="http://schemas.microsoft.com/office/drawing/2014/main" id="{D3B3FE28-7365-235B-F8FC-6DD30AEF374E}"/>
              </a:ext>
            </a:extLst>
          </p:cNvPr>
          <p:cNvPicPr>
            <a:picLocks noChangeAspect="1"/>
          </p:cNvPicPr>
          <p:nvPr/>
        </p:nvPicPr>
        <p:blipFill>
          <a:blip r:embed="rId4"/>
          <a:stretch>
            <a:fillRect/>
          </a:stretch>
        </p:blipFill>
        <p:spPr>
          <a:xfrm>
            <a:off x="599924" y="4575741"/>
            <a:ext cx="3682301" cy="1026215"/>
          </a:xfrm>
          <a:prstGeom prst="rect">
            <a:avLst/>
          </a:prstGeom>
        </p:spPr>
      </p:pic>
    </p:spTree>
    <p:extLst>
      <p:ext uri="{BB962C8B-B14F-4D97-AF65-F5344CB8AC3E}">
        <p14:creationId xmlns:p14="http://schemas.microsoft.com/office/powerpoint/2010/main" val="2799781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E280-2A37-461B-A9F8-ACF1DFFCA3EB}"/>
              </a:ext>
            </a:extLst>
          </p:cNvPr>
          <p:cNvSpPr>
            <a:spLocks noGrp="1"/>
          </p:cNvSpPr>
          <p:nvPr>
            <p:ph type="title"/>
          </p:nvPr>
        </p:nvSpPr>
        <p:spPr/>
        <p:txBody>
          <a:bodyPr>
            <a:normAutofit/>
          </a:bodyPr>
          <a:lstStyle/>
          <a:p>
            <a:r>
              <a:rPr lang="en-SG" sz="4000" b="1" dirty="0">
                <a:solidFill>
                  <a:srgbClr val="C00000"/>
                </a:solidFill>
              </a:rPr>
              <a:t>Adding Custom Method </a:t>
            </a:r>
          </a:p>
        </p:txBody>
      </p:sp>
      <p:sp>
        <p:nvSpPr>
          <p:cNvPr id="5" name="Content Placeholder 4">
            <a:extLst>
              <a:ext uri="{FF2B5EF4-FFF2-40B4-BE49-F238E27FC236}">
                <a16:creationId xmlns:a16="http://schemas.microsoft.com/office/drawing/2014/main" id="{16D2EA23-1860-616C-2195-AF9368ADF8D2}"/>
              </a:ext>
            </a:extLst>
          </p:cNvPr>
          <p:cNvSpPr>
            <a:spLocks noGrp="1"/>
          </p:cNvSpPr>
          <p:nvPr>
            <p:ph idx="1"/>
          </p:nvPr>
        </p:nvSpPr>
        <p:spPr>
          <a:xfrm>
            <a:off x="527352" y="1256044"/>
            <a:ext cx="11064724" cy="5183393"/>
          </a:xfrm>
        </p:spPr>
        <p:txBody>
          <a:bodyPr>
            <a:normAutofit lnSpcReduction="10000"/>
          </a:bodyPr>
          <a:lstStyle/>
          <a:p>
            <a:pPr marL="0" indent="0">
              <a:lnSpc>
                <a:spcPct val="100000"/>
              </a:lnSpc>
              <a:spcBef>
                <a:spcPts val="600"/>
              </a:spcBef>
              <a:spcAft>
                <a:spcPts val="0"/>
              </a:spcAft>
              <a:buNone/>
            </a:pPr>
            <a:r>
              <a:rPr lang="en-SG" sz="2400" dirty="0">
                <a:solidFill>
                  <a:srgbClr val="373A3C"/>
                </a:solidFill>
                <a:effectLst/>
                <a:latin typeface="Arial" panose="020B0604020202020204" pitchFamily="34" charset="0"/>
                <a:ea typeface="DengXian" panose="02010600030101010101" pitchFamily="2" charset="-122"/>
                <a:cs typeface="Arial" panose="020B0604020202020204" pitchFamily="34" charset="0"/>
              </a:rPr>
              <a:t>We can add function, but is </a:t>
            </a:r>
            <a:r>
              <a:rPr lang="en-SG" sz="2400" dirty="0">
                <a:solidFill>
                  <a:srgbClr val="FF0000"/>
                </a:solidFill>
                <a:effectLst/>
                <a:latin typeface="Arial" panose="020B0604020202020204" pitchFamily="34" charset="0"/>
                <a:ea typeface="DengXian" panose="02010600030101010101" pitchFamily="2" charset="-122"/>
                <a:cs typeface="Arial" panose="020B0604020202020204" pitchFamily="34" charset="0"/>
              </a:rPr>
              <a:t>known as method </a:t>
            </a:r>
            <a:r>
              <a:rPr lang="en-SG" sz="2400" dirty="0">
                <a:solidFill>
                  <a:srgbClr val="373A3C"/>
                </a:solidFill>
                <a:effectLst/>
                <a:latin typeface="Arial" panose="020B0604020202020204" pitchFamily="34" charset="0"/>
                <a:ea typeface="DengXian" panose="02010600030101010101" pitchFamily="2" charset="-122"/>
                <a:cs typeface="Arial" panose="020B0604020202020204" pitchFamily="34" charset="0"/>
              </a:rPr>
              <a:t>in the class that can only be used by the object/instance created:</a:t>
            </a:r>
          </a:p>
          <a:p>
            <a:pPr marL="0" indent="0">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5646738" indent="0">
              <a:lnSpc>
                <a:spcPct val="110000"/>
              </a:lnSpc>
              <a:spcBef>
                <a:spcPts val="0"/>
              </a:spcBef>
              <a:spcAft>
                <a:spcPts val="0"/>
              </a:spcAft>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5646738" indent="0">
              <a:lnSpc>
                <a:spcPct val="110000"/>
              </a:lnSpc>
              <a:spcBef>
                <a:spcPts val="0"/>
              </a:spcBef>
              <a:spcAft>
                <a:spcPts val="0"/>
              </a:spcAft>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5029200" indent="0">
              <a:lnSpc>
                <a:spcPct val="110000"/>
              </a:lnSpc>
              <a:spcBef>
                <a:spcPts val="0"/>
              </a:spcBef>
              <a:spcAft>
                <a:spcPts val="0"/>
              </a:spcAft>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5029200" indent="-546100">
              <a:lnSpc>
                <a:spcPct val="110000"/>
              </a:lnSpc>
              <a:spcBef>
                <a:spcPts val="0"/>
              </a:spcBef>
              <a:spcAft>
                <a:spcPts val="0"/>
              </a:spcAft>
              <a:buNone/>
            </a:pP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Note the way method is ‘called’</a:t>
            </a:r>
          </a:p>
          <a:p>
            <a:pPr marL="4838700" indent="-355600">
              <a:lnSpc>
                <a:spcPct val="110000"/>
              </a:lnSpc>
              <a:spcBef>
                <a:spcPts val="0"/>
              </a:spcBef>
              <a:spcAft>
                <a:spcPts val="0"/>
              </a:spcAft>
            </a:pP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it is ‘attached’ to the object with a dot</a:t>
            </a:r>
          </a:p>
          <a:p>
            <a:pPr marL="0" indent="0">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endParaRPr lang="en-SG" sz="2400" dirty="0">
              <a:solidFill>
                <a:srgbClr val="373A3C"/>
              </a:solidFill>
              <a:effectLst/>
              <a:latin typeface="Arial" panose="020B0604020202020204" pitchFamily="34" charset="0"/>
              <a:ea typeface="DengXian" panose="02010600030101010101" pitchFamily="2" charset="-122"/>
              <a:cs typeface="Arial" panose="020B0604020202020204" pitchFamily="34" charset="0"/>
            </a:endParaRPr>
          </a:p>
          <a:p>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endParaRPr lang="en-SG" sz="2400" dirty="0">
              <a:solidFill>
                <a:srgbClr val="373A3C"/>
              </a:solidFill>
              <a:effectLst/>
              <a:latin typeface="Arial" panose="020B0604020202020204" pitchFamily="34" charset="0"/>
              <a:ea typeface="DengXian" panose="02010600030101010101" pitchFamily="2" charset="-122"/>
              <a:cs typeface="Arial" panose="020B0604020202020204" pitchFamily="34" charset="0"/>
            </a:endParaRPr>
          </a:p>
          <a:p>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buNone/>
            </a:pPr>
            <a:endParaRPr lang="en-SG" dirty="0"/>
          </a:p>
        </p:txBody>
      </p:sp>
      <p:sp>
        <p:nvSpPr>
          <p:cNvPr id="4" name="Slide Number Placeholder 3">
            <a:extLst>
              <a:ext uri="{FF2B5EF4-FFF2-40B4-BE49-F238E27FC236}">
                <a16:creationId xmlns:a16="http://schemas.microsoft.com/office/drawing/2014/main" id="{F8D19DFC-AC32-01B5-83E0-D60A416FDDD8}"/>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8</a:t>
            </a:fld>
            <a:endParaRPr lang="en-US" dirty="0"/>
          </a:p>
        </p:txBody>
      </p:sp>
      <p:pic>
        <p:nvPicPr>
          <p:cNvPr id="7" name="Picture 6">
            <a:extLst>
              <a:ext uri="{FF2B5EF4-FFF2-40B4-BE49-F238E27FC236}">
                <a16:creationId xmlns:a16="http://schemas.microsoft.com/office/drawing/2014/main" id="{83AF0516-95BF-AB25-5221-2E149E7F06BF}"/>
              </a:ext>
            </a:extLst>
          </p:cNvPr>
          <p:cNvPicPr>
            <a:picLocks noChangeAspect="1"/>
          </p:cNvPicPr>
          <p:nvPr/>
        </p:nvPicPr>
        <p:blipFill>
          <a:blip r:embed="rId3"/>
          <a:stretch>
            <a:fillRect/>
          </a:stretch>
        </p:blipFill>
        <p:spPr>
          <a:xfrm>
            <a:off x="701502" y="1981753"/>
            <a:ext cx="6724996" cy="2787793"/>
          </a:xfrm>
          <a:prstGeom prst="rect">
            <a:avLst/>
          </a:prstGeom>
        </p:spPr>
      </p:pic>
      <p:pic>
        <p:nvPicPr>
          <p:cNvPr id="10" name="Picture 9">
            <a:extLst>
              <a:ext uri="{FF2B5EF4-FFF2-40B4-BE49-F238E27FC236}">
                <a16:creationId xmlns:a16="http://schemas.microsoft.com/office/drawing/2014/main" id="{837CA13C-1094-F7EF-CE02-A3E6A8E7AE54}"/>
              </a:ext>
            </a:extLst>
          </p:cNvPr>
          <p:cNvPicPr>
            <a:picLocks noChangeAspect="1"/>
          </p:cNvPicPr>
          <p:nvPr/>
        </p:nvPicPr>
        <p:blipFill>
          <a:blip r:embed="rId4"/>
          <a:stretch>
            <a:fillRect/>
          </a:stretch>
        </p:blipFill>
        <p:spPr>
          <a:xfrm>
            <a:off x="599924" y="4961828"/>
            <a:ext cx="4381725" cy="533427"/>
          </a:xfrm>
          <a:prstGeom prst="rect">
            <a:avLst/>
          </a:prstGeom>
        </p:spPr>
      </p:pic>
      <p:pic>
        <p:nvPicPr>
          <p:cNvPr id="12" name="Picture 11">
            <a:extLst>
              <a:ext uri="{FF2B5EF4-FFF2-40B4-BE49-F238E27FC236}">
                <a16:creationId xmlns:a16="http://schemas.microsoft.com/office/drawing/2014/main" id="{AAB4E37D-D379-4AB7-13C1-5FBD1473B1AA}"/>
              </a:ext>
            </a:extLst>
          </p:cNvPr>
          <p:cNvPicPr>
            <a:picLocks noChangeAspect="1"/>
          </p:cNvPicPr>
          <p:nvPr/>
        </p:nvPicPr>
        <p:blipFill>
          <a:blip r:embed="rId5"/>
          <a:stretch>
            <a:fillRect/>
          </a:stretch>
        </p:blipFill>
        <p:spPr>
          <a:xfrm>
            <a:off x="599924" y="5495255"/>
            <a:ext cx="2685748" cy="886363"/>
          </a:xfrm>
          <a:prstGeom prst="rect">
            <a:avLst/>
          </a:prstGeom>
        </p:spPr>
      </p:pic>
    </p:spTree>
    <p:extLst>
      <p:ext uri="{BB962C8B-B14F-4D97-AF65-F5344CB8AC3E}">
        <p14:creationId xmlns:p14="http://schemas.microsoft.com/office/powerpoint/2010/main" val="4036466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9" end="9"/>
                                            </p:txEl>
                                          </p:spTgt>
                                        </p:tgtEl>
                                        <p:attrNameLst>
                                          <p:attrName>style.visibility</p:attrName>
                                        </p:attrNameLst>
                                      </p:cBhvr>
                                      <p:to>
                                        <p:strVal val="visible"/>
                                      </p:to>
                                    </p:set>
                                    <p:animEffect transition="in" filter="fade">
                                      <p:cBhvr>
                                        <p:cTn id="12" dur="500"/>
                                        <p:tgtEl>
                                          <p:spTgt spid="5">
                                            <p:txEl>
                                              <p:pRg st="9" end="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animEffect transition="in" filter="fade">
                                      <p:cBhvr>
                                        <p:cTn id="17"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ACE35EA8-77F3-0503-9EA5-8C6F73A6612B}"/>
              </a:ext>
            </a:extLst>
          </p:cNvPr>
          <p:cNvPicPr>
            <a:picLocks noChangeAspect="1"/>
          </p:cNvPicPr>
          <p:nvPr/>
        </p:nvPicPr>
        <p:blipFill>
          <a:blip r:embed="rId3"/>
          <a:stretch>
            <a:fillRect/>
          </a:stretch>
        </p:blipFill>
        <p:spPr>
          <a:xfrm>
            <a:off x="0" y="2413253"/>
            <a:ext cx="9206331" cy="3980515"/>
          </a:xfrm>
          <a:prstGeom prst="rect">
            <a:avLst/>
          </a:prstGeom>
        </p:spPr>
      </p:pic>
      <p:sp>
        <p:nvSpPr>
          <p:cNvPr id="2" name="Title 1">
            <a:extLst>
              <a:ext uri="{FF2B5EF4-FFF2-40B4-BE49-F238E27FC236}">
                <a16:creationId xmlns:a16="http://schemas.microsoft.com/office/drawing/2014/main" id="{3CEBE280-2A37-461B-A9F8-ACF1DFFCA3EB}"/>
              </a:ext>
            </a:extLst>
          </p:cNvPr>
          <p:cNvSpPr>
            <a:spLocks noGrp="1"/>
          </p:cNvSpPr>
          <p:nvPr>
            <p:ph type="title"/>
          </p:nvPr>
        </p:nvSpPr>
        <p:spPr/>
        <p:txBody>
          <a:bodyPr>
            <a:normAutofit/>
          </a:bodyPr>
          <a:lstStyle/>
          <a:p>
            <a:r>
              <a:rPr lang="en-SG" sz="4000" b="1" dirty="0">
                <a:solidFill>
                  <a:srgbClr val="C00000"/>
                </a:solidFill>
              </a:rPr>
              <a:t>Private Attribute</a:t>
            </a:r>
          </a:p>
        </p:txBody>
      </p:sp>
      <p:sp>
        <p:nvSpPr>
          <p:cNvPr id="5" name="Content Placeholder 4">
            <a:extLst>
              <a:ext uri="{FF2B5EF4-FFF2-40B4-BE49-F238E27FC236}">
                <a16:creationId xmlns:a16="http://schemas.microsoft.com/office/drawing/2014/main" id="{16D2EA23-1860-616C-2195-AF9368ADF8D2}"/>
              </a:ext>
            </a:extLst>
          </p:cNvPr>
          <p:cNvSpPr>
            <a:spLocks noGrp="1"/>
          </p:cNvSpPr>
          <p:nvPr>
            <p:ph idx="1"/>
          </p:nvPr>
        </p:nvSpPr>
        <p:spPr>
          <a:xfrm>
            <a:off x="563638" y="1055077"/>
            <a:ext cx="11064724" cy="2373923"/>
          </a:xfrm>
        </p:spPr>
        <p:txBody>
          <a:bodyPr>
            <a:noAutofit/>
          </a:bodyPr>
          <a:lstStyle/>
          <a:p>
            <a:pPr marL="0" indent="0">
              <a:lnSpc>
                <a:spcPct val="100000"/>
              </a:lnSpc>
              <a:spcBef>
                <a:spcPts val="600"/>
              </a:spcBef>
              <a:spcAft>
                <a:spcPts val="0"/>
              </a:spcAft>
              <a:buNone/>
            </a:pP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We can ‘</a:t>
            </a:r>
            <a:r>
              <a:rPr lang="en-SG" sz="2400" dirty="0">
                <a:latin typeface="Arial" panose="020B0604020202020204" pitchFamily="34" charset="0"/>
                <a:cs typeface="Arial" panose="020B0604020202020204" pitchFamily="34" charset="0"/>
              </a:rPr>
              <a:t>protect’ the data inside an object (using </a:t>
            </a: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E</a:t>
            </a:r>
            <a:r>
              <a:rPr lang="en-SG" sz="2400" dirty="0">
                <a:latin typeface="Arial" panose="020B0604020202020204" pitchFamily="34" charset="0"/>
                <a:cs typeface="Arial" panose="020B0604020202020204" pitchFamily="34" charset="0"/>
              </a:rPr>
              <a:t>ncapsulation concept)</a:t>
            </a:r>
          </a:p>
          <a:p>
            <a:pPr marL="358775" indent="-358775">
              <a:lnSpc>
                <a:spcPct val="100000"/>
              </a:lnSpc>
              <a:spcBef>
                <a:spcPts val="600"/>
              </a:spcBef>
              <a:spcAft>
                <a:spcPts val="0"/>
              </a:spcAft>
            </a:pPr>
            <a:r>
              <a:rPr lang="en-SG" sz="2400" dirty="0">
                <a:latin typeface="Arial" panose="020B0604020202020204" pitchFamily="34" charset="0"/>
                <a:cs typeface="Arial" panose="020B0604020202020204" pitchFamily="34" charset="0"/>
              </a:rPr>
              <a:t>keep certain details internal (private) : </a:t>
            </a:r>
            <a:r>
              <a:rPr lang="en-SG" sz="2400" dirty="0">
                <a:solidFill>
                  <a:srgbClr val="0070C0"/>
                </a:solidFill>
                <a:latin typeface="Arial" panose="020B0604020202020204" pitchFamily="34" charset="0"/>
                <a:cs typeface="Arial" panose="020B0604020202020204" pitchFamily="34" charset="0"/>
              </a:rPr>
              <a:t>private attribute</a:t>
            </a:r>
          </a:p>
          <a:p>
            <a:pPr marL="358775" indent="-358775">
              <a:lnSpc>
                <a:spcPct val="100000"/>
              </a:lnSpc>
              <a:spcBef>
                <a:spcPts val="600"/>
              </a:spcBef>
              <a:spcAft>
                <a:spcPts val="0"/>
              </a:spcAft>
            </a:pPr>
            <a:r>
              <a:rPr lang="en-SG" sz="2400" dirty="0">
                <a:latin typeface="Arial" panose="020B0604020202020204" pitchFamily="34" charset="0"/>
                <a:cs typeface="Arial" panose="020B0604020202020204" pitchFamily="34" charset="0"/>
              </a:rPr>
              <a:t>allowing only controlled access to them through custom method</a:t>
            </a: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endParaRPr lang="en-SG" sz="2400" dirty="0">
              <a:solidFill>
                <a:srgbClr val="373A3C"/>
              </a:solidFill>
              <a:effectLst/>
              <a:latin typeface="Arial" panose="020B0604020202020204" pitchFamily="34" charset="0"/>
              <a:ea typeface="DengXian" panose="02010600030101010101" pitchFamily="2" charset="-122"/>
              <a:cs typeface="Arial" panose="020B0604020202020204" pitchFamily="34" charset="0"/>
            </a:endParaRPr>
          </a:p>
          <a:p>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buNone/>
            </a:pPr>
            <a:endParaRPr lang="en-SG" sz="2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8D19DFC-AC32-01B5-83E0-D60A416FDDD8}"/>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9</a:t>
            </a:fld>
            <a:endParaRPr lang="en-US" dirty="0"/>
          </a:p>
        </p:txBody>
      </p:sp>
      <p:sp>
        <p:nvSpPr>
          <p:cNvPr id="8" name="Rectangle: Rounded Corners 7">
            <a:extLst>
              <a:ext uri="{FF2B5EF4-FFF2-40B4-BE49-F238E27FC236}">
                <a16:creationId xmlns:a16="http://schemas.microsoft.com/office/drawing/2014/main" id="{714C2BDD-CC6F-9887-26D4-2EE07F9D3761}"/>
              </a:ext>
            </a:extLst>
          </p:cNvPr>
          <p:cNvSpPr/>
          <p:nvPr/>
        </p:nvSpPr>
        <p:spPr>
          <a:xfrm>
            <a:off x="6388100" y="4211314"/>
            <a:ext cx="2286000" cy="408032"/>
          </a:xfrm>
          <a:prstGeom prst="round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9" name="Rectangle: Rounded Corners 8">
            <a:extLst>
              <a:ext uri="{FF2B5EF4-FFF2-40B4-BE49-F238E27FC236}">
                <a16:creationId xmlns:a16="http://schemas.microsoft.com/office/drawing/2014/main" id="{6FCA3635-F056-6F9F-7E65-3C833ADF8033}"/>
              </a:ext>
            </a:extLst>
          </p:cNvPr>
          <p:cNvSpPr/>
          <p:nvPr/>
        </p:nvSpPr>
        <p:spPr>
          <a:xfrm>
            <a:off x="939800" y="6019924"/>
            <a:ext cx="2908300" cy="373844"/>
          </a:xfrm>
          <a:prstGeom prst="round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pic>
        <p:nvPicPr>
          <p:cNvPr id="18" name="Picture 17">
            <a:extLst>
              <a:ext uri="{FF2B5EF4-FFF2-40B4-BE49-F238E27FC236}">
                <a16:creationId xmlns:a16="http://schemas.microsoft.com/office/drawing/2014/main" id="{560E31DB-E1B1-F228-6DF9-4D7915404CC5}"/>
              </a:ext>
            </a:extLst>
          </p:cNvPr>
          <p:cNvPicPr>
            <a:picLocks noChangeAspect="1"/>
          </p:cNvPicPr>
          <p:nvPr/>
        </p:nvPicPr>
        <p:blipFill>
          <a:blip r:embed="rId4"/>
          <a:stretch>
            <a:fillRect/>
          </a:stretch>
        </p:blipFill>
        <p:spPr>
          <a:xfrm>
            <a:off x="9366105" y="4890667"/>
            <a:ext cx="2825895" cy="1035103"/>
          </a:xfrm>
          <a:prstGeom prst="rect">
            <a:avLst/>
          </a:prstGeom>
        </p:spPr>
      </p:pic>
      <p:pic>
        <p:nvPicPr>
          <p:cNvPr id="20" name="Picture 19">
            <a:extLst>
              <a:ext uri="{FF2B5EF4-FFF2-40B4-BE49-F238E27FC236}">
                <a16:creationId xmlns:a16="http://schemas.microsoft.com/office/drawing/2014/main" id="{DC3AE3B5-3A34-09F4-A81D-3BFFB227FCD0}"/>
              </a:ext>
            </a:extLst>
          </p:cNvPr>
          <p:cNvPicPr>
            <a:picLocks noChangeAspect="1"/>
          </p:cNvPicPr>
          <p:nvPr/>
        </p:nvPicPr>
        <p:blipFill>
          <a:blip r:embed="rId5"/>
          <a:stretch>
            <a:fillRect/>
          </a:stretch>
        </p:blipFill>
        <p:spPr>
          <a:xfrm>
            <a:off x="8140491" y="3183423"/>
            <a:ext cx="4064209" cy="520727"/>
          </a:xfrm>
          <a:prstGeom prst="rect">
            <a:avLst/>
          </a:prstGeom>
        </p:spPr>
      </p:pic>
      <p:pic>
        <p:nvPicPr>
          <p:cNvPr id="22" name="Picture 21">
            <a:extLst>
              <a:ext uri="{FF2B5EF4-FFF2-40B4-BE49-F238E27FC236}">
                <a16:creationId xmlns:a16="http://schemas.microsoft.com/office/drawing/2014/main" id="{86F4B82E-F250-779B-52C8-45587B7ED39A}"/>
              </a:ext>
            </a:extLst>
          </p:cNvPr>
          <p:cNvPicPr>
            <a:picLocks noChangeAspect="1"/>
          </p:cNvPicPr>
          <p:nvPr/>
        </p:nvPicPr>
        <p:blipFill>
          <a:blip r:embed="rId6"/>
          <a:stretch>
            <a:fillRect/>
          </a:stretch>
        </p:blipFill>
        <p:spPr>
          <a:xfrm>
            <a:off x="9308952" y="3801034"/>
            <a:ext cx="2883048" cy="1054154"/>
          </a:xfrm>
          <a:prstGeom prst="rect">
            <a:avLst/>
          </a:prstGeom>
        </p:spPr>
      </p:pic>
      <p:sp>
        <p:nvSpPr>
          <p:cNvPr id="23" name="Rectangle: Rounded Corners 22">
            <a:extLst>
              <a:ext uri="{FF2B5EF4-FFF2-40B4-BE49-F238E27FC236}">
                <a16:creationId xmlns:a16="http://schemas.microsoft.com/office/drawing/2014/main" id="{D62C74E2-4BB2-4BBB-1195-58348298D665}"/>
              </a:ext>
            </a:extLst>
          </p:cNvPr>
          <p:cNvSpPr/>
          <p:nvPr/>
        </p:nvSpPr>
        <p:spPr>
          <a:xfrm>
            <a:off x="850900" y="4225834"/>
            <a:ext cx="1671422" cy="393512"/>
          </a:xfrm>
          <a:prstGeom prst="round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81225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EE2C0-DDE7-F580-B403-D986752405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62392-63D9-C2A6-2A01-28D57166A04A}"/>
              </a:ext>
            </a:extLst>
          </p:cNvPr>
          <p:cNvSpPr>
            <a:spLocks noGrp="1"/>
          </p:cNvSpPr>
          <p:nvPr>
            <p:ph type="title"/>
          </p:nvPr>
        </p:nvSpPr>
        <p:spPr/>
        <p:txBody>
          <a:bodyPr>
            <a:normAutofit/>
          </a:bodyPr>
          <a:lstStyle/>
          <a:p>
            <a:r>
              <a:rPr lang="en-SG" sz="4000" b="1" dirty="0">
                <a:solidFill>
                  <a:srgbClr val="C00000"/>
                </a:solidFill>
              </a:rPr>
              <a:t>Aside: Private vs Protected</a:t>
            </a:r>
          </a:p>
        </p:txBody>
      </p:sp>
      <p:sp>
        <p:nvSpPr>
          <p:cNvPr id="5" name="Content Placeholder 4">
            <a:extLst>
              <a:ext uri="{FF2B5EF4-FFF2-40B4-BE49-F238E27FC236}">
                <a16:creationId xmlns:a16="http://schemas.microsoft.com/office/drawing/2014/main" id="{E853A485-00DD-6AA9-0065-33FA7B768202}"/>
              </a:ext>
            </a:extLst>
          </p:cNvPr>
          <p:cNvSpPr>
            <a:spLocks noGrp="1"/>
          </p:cNvSpPr>
          <p:nvPr>
            <p:ph idx="1"/>
          </p:nvPr>
        </p:nvSpPr>
        <p:spPr>
          <a:xfrm>
            <a:off x="563638" y="1055077"/>
            <a:ext cx="11064724" cy="2373923"/>
          </a:xfrm>
        </p:spPr>
        <p:txBody>
          <a:bodyPr>
            <a:noAutofit/>
          </a:bodyPr>
          <a:lstStyle/>
          <a:p>
            <a:pPr marL="0" indent="0">
              <a:lnSpc>
                <a:spcPct val="100000"/>
              </a:lnSpc>
              <a:spcBef>
                <a:spcPts val="600"/>
              </a:spcBef>
              <a:spcAft>
                <a:spcPts val="0"/>
              </a:spcAft>
              <a:buNone/>
            </a:pPr>
            <a:r>
              <a:rPr lang="en-SG" sz="2400" dirty="0">
                <a:latin typeface="Arial" panose="020B0604020202020204" pitchFamily="34" charset="0"/>
                <a:cs typeface="Arial" panose="020B0604020202020204" pitchFamily="34" charset="0"/>
              </a:rPr>
              <a:t>You may come across private attribute that uses single leading underscore</a:t>
            </a:r>
          </a:p>
          <a:p>
            <a:pPr marL="355600" indent="-355600">
              <a:lnSpc>
                <a:spcPct val="100000"/>
              </a:lnSpc>
              <a:spcBef>
                <a:spcPts val="0"/>
              </a:spcBef>
              <a:spcAft>
                <a:spcPts val="0"/>
              </a:spcAft>
            </a:pP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this is also known as Protected attribute</a:t>
            </a:r>
          </a:p>
          <a:p>
            <a:pPr marL="723900" indent="-355600">
              <a:lnSpc>
                <a:spcPct val="100000"/>
              </a:lnSpc>
              <a:spcBef>
                <a:spcPts val="0"/>
              </a:spcBef>
              <a:spcAft>
                <a:spcPts val="0"/>
              </a:spcAft>
            </a:pP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which can still be accessed directly</a:t>
            </a:r>
          </a:p>
          <a:p>
            <a:pPr marL="723900" indent="-355600">
              <a:lnSpc>
                <a:spcPct val="100000"/>
              </a:lnSpc>
              <a:spcBef>
                <a:spcPts val="0"/>
              </a:spcBef>
              <a:spcAft>
                <a:spcPts val="0"/>
              </a:spcAft>
            </a:pP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but mean to discourage from direct access (e.g., may change later) </a:t>
            </a:r>
          </a:p>
          <a:p>
            <a:pPr marL="0" indent="0">
              <a:lnSpc>
                <a:spcPct val="100000"/>
              </a:lnSpc>
              <a:spcBef>
                <a:spcPts val="600"/>
              </a:spcBef>
              <a:spcAft>
                <a:spcPts val="0"/>
              </a:spcAft>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Finger Exercise:</a:t>
            </a:r>
          </a:p>
          <a:p>
            <a:pPr marL="0" indent="0">
              <a:lnSpc>
                <a:spcPct val="100000"/>
              </a:lnSpc>
              <a:spcBef>
                <a:spcPts val="600"/>
              </a:spcBef>
              <a:spcAft>
                <a:spcPts val="0"/>
              </a:spcAft>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endParaRPr lang="en-SG" sz="2400" dirty="0">
              <a:solidFill>
                <a:srgbClr val="373A3C"/>
              </a:solidFill>
              <a:effectLst/>
              <a:latin typeface="Arial" panose="020B0604020202020204" pitchFamily="34" charset="0"/>
              <a:ea typeface="DengXian" panose="02010600030101010101" pitchFamily="2" charset="-122"/>
              <a:cs typeface="Arial" panose="020B0604020202020204" pitchFamily="34" charset="0"/>
            </a:endParaRPr>
          </a:p>
          <a:p>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buNone/>
            </a:pPr>
            <a:endParaRPr lang="en-SG" sz="2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3CE4483-C793-2507-FF8E-7436C68547B8}"/>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10</a:t>
            </a:fld>
            <a:endParaRPr lang="en-US" dirty="0"/>
          </a:p>
        </p:txBody>
      </p:sp>
      <p:pic>
        <p:nvPicPr>
          <p:cNvPr id="6" name="Picture 5">
            <a:extLst>
              <a:ext uri="{FF2B5EF4-FFF2-40B4-BE49-F238E27FC236}">
                <a16:creationId xmlns:a16="http://schemas.microsoft.com/office/drawing/2014/main" id="{FD68C33A-54C5-54E1-0639-C9D7DB2295D6}"/>
              </a:ext>
            </a:extLst>
          </p:cNvPr>
          <p:cNvPicPr>
            <a:picLocks noChangeAspect="1"/>
          </p:cNvPicPr>
          <p:nvPr/>
        </p:nvPicPr>
        <p:blipFill>
          <a:blip r:embed="rId3"/>
          <a:stretch>
            <a:fillRect/>
          </a:stretch>
        </p:blipFill>
        <p:spPr>
          <a:xfrm>
            <a:off x="0" y="3594100"/>
            <a:ext cx="5277121" cy="2654436"/>
          </a:xfrm>
          <a:prstGeom prst="rect">
            <a:avLst/>
          </a:prstGeom>
        </p:spPr>
      </p:pic>
      <p:pic>
        <p:nvPicPr>
          <p:cNvPr id="10" name="Picture 9">
            <a:extLst>
              <a:ext uri="{FF2B5EF4-FFF2-40B4-BE49-F238E27FC236}">
                <a16:creationId xmlns:a16="http://schemas.microsoft.com/office/drawing/2014/main" id="{AB313975-36F9-A557-885A-DCB576F47190}"/>
              </a:ext>
            </a:extLst>
          </p:cNvPr>
          <p:cNvPicPr>
            <a:picLocks noChangeAspect="1"/>
          </p:cNvPicPr>
          <p:nvPr/>
        </p:nvPicPr>
        <p:blipFill>
          <a:blip r:embed="rId4"/>
          <a:stretch>
            <a:fillRect/>
          </a:stretch>
        </p:blipFill>
        <p:spPr>
          <a:xfrm>
            <a:off x="5232042" y="3910526"/>
            <a:ext cx="6959958" cy="1892397"/>
          </a:xfrm>
          <a:prstGeom prst="rect">
            <a:avLst/>
          </a:prstGeom>
        </p:spPr>
      </p:pic>
      <p:pic>
        <p:nvPicPr>
          <p:cNvPr id="12" name="Picture 11">
            <a:extLst>
              <a:ext uri="{FF2B5EF4-FFF2-40B4-BE49-F238E27FC236}">
                <a16:creationId xmlns:a16="http://schemas.microsoft.com/office/drawing/2014/main" id="{61904CE4-14A9-D81B-2F90-0F5BD1A3FC81}"/>
              </a:ext>
            </a:extLst>
          </p:cNvPr>
          <p:cNvPicPr>
            <a:picLocks noChangeAspect="1"/>
          </p:cNvPicPr>
          <p:nvPr/>
        </p:nvPicPr>
        <p:blipFill>
          <a:blip r:embed="rId5"/>
          <a:stretch>
            <a:fillRect/>
          </a:stretch>
        </p:blipFill>
        <p:spPr>
          <a:xfrm>
            <a:off x="12326596" y="123655"/>
            <a:ext cx="2825895" cy="2825895"/>
          </a:xfrm>
          <a:prstGeom prst="rect">
            <a:avLst/>
          </a:prstGeom>
        </p:spPr>
      </p:pic>
    </p:spTree>
    <p:extLst>
      <p:ext uri="{BB962C8B-B14F-4D97-AF65-F5344CB8AC3E}">
        <p14:creationId xmlns:p14="http://schemas.microsoft.com/office/powerpoint/2010/main" val="2927142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35" presetClass="path" presetSubtype="0" accel="50000" decel="50000" fill="hold" nodeType="clickEffect">
                                  <p:stCondLst>
                                    <p:cond delay="0"/>
                                  </p:stCondLst>
                                  <p:childTnLst>
                                    <p:animMotion origin="layout" path="M 0 0 L -0.25 0 E" pathEditMode="relative" ptsTypes="">
                                      <p:cBhvr>
                                        <p:cTn id="41" dur="2000" fill="hold"/>
                                        <p:tgtEl>
                                          <p:spTgt spid="1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C0ECA-2365-B2C1-B7C5-E3D1AAC5D1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2EF613-657F-B0B9-B052-F8AC7F2685BA}"/>
              </a:ext>
            </a:extLst>
          </p:cNvPr>
          <p:cNvSpPr>
            <a:spLocks noGrp="1"/>
          </p:cNvSpPr>
          <p:nvPr>
            <p:ph type="title"/>
          </p:nvPr>
        </p:nvSpPr>
        <p:spPr>
          <a:xfrm>
            <a:off x="921213" y="213360"/>
            <a:ext cx="9692640" cy="689317"/>
          </a:xfrm>
        </p:spPr>
        <p:txBody>
          <a:bodyPr>
            <a:normAutofit fontScale="90000"/>
          </a:bodyPr>
          <a:lstStyle/>
          <a:p>
            <a:r>
              <a:rPr lang="en-SG" dirty="0">
                <a:solidFill>
                  <a:srgbClr val="C00000"/>
                </a:solidFill>
              </a:rPr>
              <a:t>Aside</a:t>
            </a:r>
            <a:r>
              <a:rPr lang="en-SG">
                <a:solidFill>
                  <a:srgbClr val="C00000"/>
                </a:solidFill>
              </a:rPr>
              <a:t>: Dunder </a:t>
            </a:r>
            <a:r>
              <a:rPr lang="en-SG" dirty="0">
                <a:solidFill>
                  <a:srgbClr val="C00000"/>
                </a:solidFill>
              </a:rPr>
              <a:t>Methods</a:t>
            </a:r>
            <a:endParaRPr lang="en-SG" sz="4000" b="1" dirty="0">
              <a:solidFill>
                <a:srgbClr val="C00000"/>
              </a:solidFill>
            </a:endParaRPr>
          </a:p>
        </p:txBody>
      </p:sp>
      <p:sp>
        <p:nvSpPr>
          <p:cNvPr id="17" name="Content Placeholder 16">
            <a:extLst>
              <a:ext uri="{FF2B5EF4-FFF2-40B4-BE49-F238E27FC236}">
                <a16:creationId xmlns:a16="http://schemas.microsoft.com/office/drawing/2014/main" id="{EDD32681-CCBC-5BF6-31BD-FE291948BF65}"/>
              </a:ext>
            </a:extLst>
          </p:cNvPr>
          <p:cNvSpPr>
            <a:spLocks noGrp="1"/>
          </p:cNvSpPr>
          <p:nvPr>
            <p:ph idx="1"/>
          </p:nvPr>
        </p:nvSpPr>
        <p:spPr>
          <a:xfrm>
            <a:off x="392882" y="966953"/>
            <a:ext cx="11064724" cy="4924093"/>
          </a:xfrm>
        </p:spPr>
        <p:txBody>
          <a:bodyPr>
            <a:noAutofit/>
          </a:bodyPr>
          <a:lstStyle/>
          <a:p>
            <a:pPr marL="0" indent="0">
              <a:lnSpc>
                <a:spcPct val="100000"/>
              </a:lnSpc>
              <a:spcBef>
                <a:spcPts val="0"/>
              </a:spcBef>
              <a:spcAft>
                <a:spcPts val="0"/>
              </a:spcAft>
              <a:buNone/>
            </a:pPr>
            <a:r>
              <a:rPr lang="en-SG" sz="2400" dirty="0">
                <a:latin typeface="Arial" panose="020B0604020202020204" pitchFamily="34" charset="0"/>
                <a:cs typeface="Arial" panose="020B0604020202020204" pitchFamily="34" charset="0"/>
              </a:rPr>
              <a:t>dunder means ‘double underscore’</a:t>
            </a:r>
          </a:p>
          <a:p>
            <a:pPr marL="358775" indent="-358775">
              <a:lnSpc>
                <a:spcPct val="100000"/>
              </a:lnSpc>
              <a:spcBef>
                <a:spcPts val="0"/>
              </a:spcBef>
              <a:spcAft>
                <a:spcPts val="0"/>
              </a:spcAft>
            </a:pPr>
            <a:r>
              <a:rPr lang="en-SG" sz="2400" dirty="0">
                <a:latin typeface="Arial" panose="020B0604020202020204" pitchFamily="34" charset="0"/>
                <a:cs typeface="Arial" panose="020B0604020202020204" pitchFamily="34" charset="0"/>
              </a:rPr>
              <a:t>dunder methods are methods that start and end with </a:t>
            </a:r>
            <a:r>
              <a:rPr lang="en-SG" sz="2400" b="1" dirty="0">
                <a:solidFill>
                  <a:srgbClr val="0070C0"/>
                </a:solidFill>
                <a:latin typeface="Courier New" panose="02070309020205020404" pitchFamily="49" charset="0"/>
                <a:cs typeface="Courier New" panose="02070309020205020404" pitchFamily="49" charset="0"/>
              </a:rPr>
              <a:t>_</a:t>
            </a:r>
            <a:r>
              <a:rPr lang="en-SG" sz="1050" b="1" dirty="0">
                <a:solidFill>
                  <a:srgbClr val="0070C0"/>
                </a:solidFill>
                <a:latin typeface="Courier New" panose="02070309020205020404" pitchFamily="49" charset="0"/>
                <a:cs typeface="Courier New" panose="02070309020205020404" pitchFamily="49" charset="0"/>
              </a:rPr>
              <a:t> </a:t>
            </a:r>
            <a:r>
              <a:rPr lang="en-SG" sz="2400" b="1" dirty="0">
                <a:solidFill>
                  <a:srgbClr val="0070C0"/>
                </a:solidFill>
                <a:latin typeface="Courier New" panose="02070309020205020404" pitchFamily="49" charset="0"/>
                <a:cs typeface="Courier New" panose="02070309020205020404" pitchFamily="49" charset="0"/>
              </a:rPr>
              <a:t>_</a:t>
            </a:r>
          </a:p>
          <a:p>
            <a:pPr marL="358775" indent="-358775">
              <a:lnSpc>
                <a:spcPct val="100000"/>
              </a:lnSpc>
              <a:spcBef>
                <a:spcPts val="0"/>
              </a:spcBef>
              <a:spcAft>
                <a:spcPts val="0"/>
              </a:spcAft>
            </a:pPr>
            <a:r>
              <a:rPr lang="en-SG" sz="2400" dirty="0">
                <a:latin typeface="Arial" panose="020B0604020202020204" pitchFamily="34" charset="0"/>
                <a:cs typeface="Arial" panose="020B0604020202020204" pitchFamily="34" charset="0"/>
              </a:rPr>
              <a:t>also known as </a:t>
            </a:r>
            <a:r>
              <a:rPr lang="en-SG" sz="2400" dirty="0">
                <a:solidFill>
                  <a:srgbClr val="0070C0"/>
                </a:solidFill>
                <a:latin typeface="Arial" panose="020B0604020202020204" pitchFamily="34" charset="0"/>
                <a:cs typeface="Arial" panose="020B0604020202020204" pitchFamily="34" charset="0"/>
              </a:rPr>
              <a:t>magic methods</a:t>
            </a:r>
          </a:p>
          <a:p>
            <a:pPr marL="0" indent="0">
              <a:lnSpc>
                <a:spcPct val="100000"/>
              </a:lnSpc>
              <a:spcBef>
                <a:spcPts val="0"/>
              </a:spcBef>
              <a:spcAft>
                <a:spcPts val="0"/>
              </a:spcAft>
              <a:buNone/>
            </a:pPr>
            <a:endParaRPr lang="en-SG" sz="1100" dirty="0">
              <a:latin typeface="Arial" panose="020B0604020202020204" pitchFamily="34" charset="0"/>
              <a:cs typeface="Arial" panose="020B0604020202020204" pitchFamily="34" charset="0"/>
            </a:endParaRPr>
          </a:p>
          <a:p>
            <a:pPr marL="0" indent="0">
              <a:lnSpc>
                <a:spcPct val="100000"/>
              </a:lnSpc>
              <a:spcBef>
                <a:spcPts val="0"/>
              </a:spcBef>
              <a:spcAft>
                <a:spcPts val="0"/>
              </a:spcAft>
              <a:buNone/>
            </a:pPr>
            <a:r>
              <a:rPr lang="en-SG" sz="2400" b="1" dirty="0">
                <a:solidFill>
                  <a:srgbClr val="FF0000"/>
                </a:solidFill>
                <a:latin typeface="Courier New" panose="02070309020205020404" pitchFamily="49" charset="0"/>
                <a:cs typeface="Courier New" panose="02070309020205020404" pitchFamily="49" charset="0"/>
              </a:rPr>
              <a:t>_</a:t>
            </a:r>
            <a:r>
              <a:rPr lang="en-SG" sz="1050" b="1" dirty="0">
                <a:solidFill>
                  <a:srgbClr val="FF0000"/>
                </a:solidFill>
                <a:latin typeface="Courier New" panose="02070309020205020404" pitchFamily="49" charset="0"/>
                <a:cs typeface="Courier New" panose="02070309020205020404" pitchFamily="49" charset="0"/>
              </a:rPr>
              <a:t> </a:t>
            </a:r>
            <a:r>
              <a:rPr lang="en-SG" sz="2400" b="1" dirty="0">
                <a:solidFill>
                  <a:srgbClr val="FF0000"/>
                </a:solidFill>
                <a:latin typeface="Courier New" panose="02070309020205020404" pitchFamily="49" charset="0"/>
                <a:cs typeface="Courier New" panose="02070309020205020404" pitchFamily="49" charset="0"/>
              </a:rPr>
              <a:t>_</a:t>
            </a:r>
            <a:r>
              <a:rPr lang="en-SG" sz="2400" b="1" dirty="0" err="1">
                <a:solidFill>
                  <a:srgbClr val="FF0000"/>
                </a:solidFill>
                <a:latin typeface="Courier New" panose="02070309020205020404" pitchFamily="49" charset="0"/>
                <a:cs typeface="Courier New" panose="02070309020205020404" pitchFamily="49" charset="0"/>
              </a:rPr>
              <a:t>init</a:t>
            </a:r>
            <a:r>
              <a:rPr lang="en-SG" sz="2400" b="1" dirty="0">
                <a:solidFill>
                  <a:srgbClr val="FF0000"/>
                </a:solidFill>
                <a:latin typeface="Courier New" panose="02070309020205020404" pitchFamily="49" charset="0"/>
                <a:cs typeface="Courier New" panose="02070309020205020404" pitchFamily="49" charset="0"/>
              </a:rPr>
              <a:t>_</a:t>
            </a:r>
            <a:r>
              <a:rPr lang="en-SG" sz="1000" b="1" dirty="0">
                <a:solidFill>
                  <a:srgbClr val="FF0000"/>
                </a:solidFill>
                <a:latin typeface="Courier New" panose="02070309020205020404" pitchFamily="49" charset="0"/>
                <a:cs typeface="Courier New" panose="02070309020205020404" pitchFamily="49" charset="0"/>
              </a:rPr>
              <a:t> </a:t>
            </a:r>
            <a:r>
              <a:rPr lang="en-SG" sz="2400" b="1" dirty="0">
                <a:solidFill>
                  <a:srgbClr val="FF0000"/>
                </a:solidFill>
                <a:latin typeface="Courier New" panose="02070309020205020404" pitchFamily="49" charset="0"/>
                <a:cs typeface="Courier New" panose="02070309020205020404" pitchFamily="49" charset="0"/>
              </a:rPr>
              <a:t>_() </a:t>
            </a:r>
            <a:r>
              <a:rPr lang="en-SG" sz="2400" dirty="0">
                <a:latin typeface="Arial" panose="020B0604020202020204" pitchFamily="34" charset="0"/>
                <a:cs typeface="Arial" panose="020B0604020202020204" pitchFamily="34" charset="0"/>
              </a:rPr>
              <a:t>is a dunder method </a:t>
            </a:r>
          </a:p>
          <a:p>
            <a:pPr marL="358775" indent="-358775">
              <a:lnSpc>
                <a:spcPct val="100000"/>
              </a:lnSpc>
              <a:spcBef>
                <a:spcPts val="0"/>
              </a:spcBef>
              <a:spcAft>
                <a:spcPts val="0"/>
              </a:spcAft>
            </a:pPr>
            <a:r>
              <a:rPr lang="en-SG" sz="2400" dirty="0">
                <a:latin typeface="Arial" panose="020B0604020202020204" pitchFamily="34" charset="0"/>
                <a:cs typeface="Arial" panose="020B0604020202020204" pitchFamily="34" charset="0"/>
              </a:rPr>
              <a:t>used to initialize the attributes of an object when one is newly created</a:t>
            </a:r>
          </a:p>
          <a:p>
            <a:pPr marL="0" indent="0">
              <a:lnSpc>
                <a:spcPct val="100000"/>
              </a:lnSpc>
              <a:spcBef>
                <a:spcPts val="0"/>
              </a:spcBef>
              <a:spcAft>
                <a:spcPts val="0"/>
              </a:spcAft>
              <a:buNone/>
            </a:pPr>
            <a:endParaRPr lang="en-SG" sz="1000" dirty="0">
              <a:latin typeface="Arial" panose="020B0604020202020204" pitchFamily="34" charset="0"/>
              <a:cs typeface="Arial" panose="020B0604020202020204" pitchFamily="34" charset="0"/>
            </a:endParaRPr>
          </a:p>
          <a:p>
            <a:pPr marL="0" indent="0">
              <a:lnSpc>
                <a:spcPct val="100000"/>
              </a:lnSpc>
              <a:spcBef>
                <a:spcPts val="0"/>
              </a:spcBef>
              <a:spcAft>
                <a:spcPts val="0"/>
              </a:spcAft>
              <a:buNone/>
            </a:pPr>
            <a:r>
              <a:rPr lang="en-SG" sz="2400" dirty="0">
                <a:latin typeface="Arial" panose="020B0604020202020204" pitchFamily="34" charset="0"/>
                <a:cs typeface="Arial" panose="020B0604020202020204" pitchFamily="34" charset="0"/>
              </a:rPr>
              <a:t>magic method also allows us to use Python’s built-in operations in our class</a:t>
            </a:r>
          </a:p>
          <a:p>
            <a:pPr marL="358775" indent="-358775">
              <a:lnSpc>
                <a:spcPct val="100000"/>
              </a:lnSpc>
              <a:spcBef>
                <a:spcPts val="0"/>
              </a:spcBef>
              <a:spcAft>
                <a:spcPts val="0"/>
              </a:spcAft>
            </a:pPr>
            <a:r>
              <a:rPr lang="en-SG" sz="2400" dirty="0">
                <a:latin typeface="Arial" panose="020B0604020202020204" pitchFamily="34" charset="0"/>
                <a:cs typeface="Arial" panose="020B0604020202020204" pitchFamily="34" charset="0"/>
              </a:rPr>
              <a:t>but redefine in our own way  </a:t>
            </a:r>
          </a:p>
          <a:p>
            <a:pPr marL="0" indent="0">
              <a:lnSpc>
                <a:spcPct val="100000"/>
              </a:lnSpc>
              <a:spcBef>
                <a:spcPts val="0"/>
              </a:spcBef>
              <a:spcAft>
                <a:spcPts val="0"/>
              </a:spcAft>
              <a:buNone/>
            </a:pPr>
            <a:endParaRPr lang="en-SG" sz="700" dirty="0">
              <a:latin typeface="Arial" panose="020B0604020202020204" pitchFamily="34" charset="0"/>
              <a:cs typeface="Arial" panose="020B0604020202020204" pitchFamily="34" charset="0"/>
            </a:endParaRPr>
          </a:p>
          <a:p>
            <a:pPr marL="0" indent="0">
              <a:lnSpc>
                <a:spcPct val="100000"/>
              </a:lnSpc>
              <a:spcBef>
                <a:spcPts val="0"/>
              </a:spcBef>
              <a:spcAft>
                <a:spcPts val="0"/>
              </a:spcAft>
              <a:buNone/>
            </a:pPr>
            <a:r>
              <a:rPr lang="en-SG" sz="2400" dirty="0">
                <a:latin typeface="Arial" panose="020B0604020202020204" pitchFamily="34" charset="0"/>
                <a:cs typeface="Arial" panose="020B0604020202020204" pitchFamily="34" charset="0"/>
              </a:rPr>
              <a:t>Examples:</a:t>
            </a:r>
          </a:p>
          <a:p>
            <a:pPr marL="358775" indent="-358775">
              <a:lnSpc>
                <a:spcPct val="100000"/>
              </a:lnSpc>
              <a:spcBef>
                <a:spcPts val="0"/>
              </a:spcBef>
              <a:spcAft>
                <a:spcPts val="0"/>
              </a:spcAft>
            </a:pPr>
            <a:r>
              <a:rPr lang="en-SG" sz="2400" b="1" dirty="0">
                <a:solidFill>
                  <a:srgbClr val="FF0000"/>
                </a:solidFill>
                <a:latin typeface="Courier New" panose="02070309020205020404" pitchFamily="49" charset="0"/>
                <a:cs typeface="Courier New" panose="02070309020205020404" pitchFamily="49" charset="0"/>
              </a:rPr>
              <a:t>_</a:t>
            </a:r>
            <a:r>
              <a:rPr lang="en-SG" sz="1050" b="1" dirty="0">
                <a:solidFill>
                  <a:srgbClr val="FF0000"/>
                </a:solidFill>
                <a:latin typeface="Courier New" panose="02070309020205020404" pitchFamily="49" charset="0"/>
                <a:cs typeface="Courier New" panose="02070309020205020404" pitchFamily="49" charset="0"/>
              </a:rPr>
              <a:t> </a:t>
            </a:r>
            <a:r>
              <a:rPr lang="en-SG" sz="2400" b="1" dirty="0">
                <a:solidFill>
                  <a:srgbClr val="FF0000"/>
                </a:solidFill>
                <a:latin typeface="Courier New" panose="02070309020205020404" pitchFamily="49" charset="0"/>
                <a:cs typeface="Courier New" panose="02070309020205020404" pitchFamily="49" charset="0"/>
              </a:rPr>
              <a:t>_str_</a:t>
            </a:r>
            <a:r>
              <a:rPr lang="en-SG" sz="1000" b="1" dirty="0">
                <a:solidFill>
                  <a:srgbClr val="FF0000"/>
                </a:solidFill>
                <a:latin typeface="Courier New" panose="02070309020205020404" pitchFamily="49" charset="0"/>
                <a:cs typeface="Courier New" panose="02070309020205020404" pitchFamily="49" charset="0"/>
              </a:rPr>
              <a:t> </a:t>
            </a:r>
            <a:r>
              <a:rPr lang="en-SG" sz="2400" b="1" dirty="0">
                <a:solidFill>
                  <a:srgbClr val="FF0000"/>
                </a:solidFill>
                <a:latin typeface="Courier New" panose="02070309020205020404" pitchFamily="49" charset="0"/>
                <a:cs typeface="Courier New" panose="02070309020205020404" pitchFamily="49" charset="0"/>
              </a:rPr>
              <a:t>_ </a:t>
            </a:r>
            <a:r>
              <a:rPr lang="en-SG" sz="2400" dirty="0">
                <a:latin typeface="Arial" panose="020B0604020202020204" pitchFamily="34" charset="0"/>
                <a:cs typeface="Arial" panose="020B0604020202020204" pitchFamily="34" charset="0"/>
              </a:rPr>
              <a:t>method will be called </a:t>
            </a:r>
          </a:p>
          <a:p>
            <a:pPr marL="0" indent="0">
              <a:lnSpc>
                <a:spcPct val="100000"/>
              </a:lnSpc>
              <a:spcBef>
                <a:spcPts val="0"/>
              </a:spcBef>
              <a:spcAft>
                <a:spcPts val="0"/>
              </a:spcAft>
              <a:buNone/>
            </a:pPr>
            <a:r>
              <a:rPr lang="en-SG" sz="2400" dirty="0">
                <a:latin typeface="Arial" panose="020B0604020202020204" pitchFamily="34" charset="0"/>
                <a:cs typeface="Arial" panose="020B0604020202020204" pitchFamily="34" charset="0"/>
              </a:rPr>
              <a:t>    when we use the print() function</a:t>
            </a:r>
          </a:p>
          <a:p>
            <a:pPr marL="0" indent="0">
              <a:lnSpc>
                <a:spcPct val="100000"/>
              </a:lnSpc>
              <a:spcBef>
                <a:spcPts val="0"/>
              </a:spcBef>
              <a:spcAft>
                <a:spcPts val="0"/>
              </a:spcAft>
              <a:buNone/>
            </a:pPr>
            <a:endParaRPr lang="en-SG" sz="2400" dirty="0">
              <a:latin typeface="Arial" panose="020B0604020202020204" pitchFamily="34" charset="0"/>
              <a:cs typeface="Arial" panose="020B0604020202020204" pitchFamily="34" charset="0"/>
            </a:endParaRPr>
          </a:p>
          <a:p>
            <a:pPr marL="358775" indent="-358775">
              <a:lnSpc>
                <a:spcPct val="100000"/>
              </a:lnSpc>
              <a:spcBef>
                <a:spcPts val="0"/>
              </a:spcBef>
              <a:spcAft>
                <a:spcPts val="0"/>
              </a:spcAft>
            </a:pPr>
            <a:r>
              <a:rPr lang="en-SG" sz="2400" dirty="0">
                <a:latin typeface="Arial" panose="020B0604020202020204" pitchFamily="34" charset="0"/>
                <a:cs typeface="Arial" panose="020B0604020202020204" pitchFamily="34" charset="0"/>
              </a:rPr>
              <a:t>arithmetic methods such as  </a:t>
            </a:r>
            <a:r>
              <a:rPr lang="en-SG" sz="2400" b="1" dirty="0">
                <a:solidFill>
                  <a:srgbClr val="FF0000"/>
                </a:solidFill>
                <a:latin typeface="Courier New" panose="02070309020205020404" pitchFamily="49" charset="0"/>
                <a:cs typeface="Courier New" panose="02070309020205020404" pitchFamily="49" charset="0"/>
              </a:rPr>
              <a:t>_</a:t>
            </a:r>
            <a:r>
              <a:rPr lang="en-SG" sz="1050" b="1" dirty="0">
                <a:solidFill>
                  <a:srgbClr val="FF0000"/>
                </a:solidFill>
                <a:latin typeface="Courier New" panose="02070309020205020404" pitchFamily="49" charset="0"/>
                <a:cs typeface="Courier New" panose="02070309020205020404" pitchFamily="49" charset="0"/>
              </a:rPr>
              <a:t> </a:t>
            </a:r>
            <a:r>
              <a:rPr lang="en-SG" sz="2400" b="1" dirty="0">
                <a:solidFill>
                  <a:srgbClr val="FF0000"/>
                </a:solidFill>
                <a:latin typeface="Courier New" panose="02070309020205020404" pitchFamily="49" charset="0"/>
                <a:cs typeface="Courier New" panose="02070309020205020404" pitchFamily="49" charset="0"/>
              </a:rPr>
              <a:t>_add_</a:t>
            </a:r>
            <a:r>
              <a:rPr lang="en-SG" sz="1000" b="1" dirty="0">
                <a:solidFill>
                  <a:srgbClr val="FF0000"/>
                </a:solidFill>
                <a:latin typeface="Courier New" panose="02070309020205020404" pitchFamily="49" charset="0"/>
                <a:cs typeface="Courier New" panose="02070309020205020404" pitchFamily="49" charset="0"/>
              </a:rPr>
              <a:t> </a:t>
            </a:r>
            <a:r>
              <a:rPr lang="en-SG" sz="2400" b="1" dirty="0">
                <a:solidFill>
                  <a:srgbClr val="FF0000"/>
                </a:solidFill>
                <a:latin typeface="Courier New" panose="02070309020205020404" pitchFamily="49" charset="0"/>
                <a:cs typeface="Courier New" panose="02070309020205020404" pitchFamily="49" charset="0"/>
              </a:rPr>
              <a:t>_</a:t>
            </a:r>
            <a:r>
              <a:rPr lang="en-SG" sz="2400" dirty="0">
                <a:solidFill>
                  <a:srgbClr val="FF0000"/>
                </a:solidFill>
                <a:latin typeface="Arial" panose="020B0604020202020204" pitchFamily="34" charset="0"/>
                <a:cs typeface="Arial" panose="020B0604020202020204" pitchFamily="34" charset="0"/>
              </a:rPr>
              <a:t> </a:t>
            </a:r>
            <a:r>
              <a:rPr lang="en-SG" sz="2400" dirty="0">
                <a:latin typeface="Arial" panose="020B0604020202020204" pitchFamily="34" charset="0"/>
                <a:cs typeface="Arial" panose="020B0604020202020204" pitchFamily="34" charset="0"/>
              </a:rPr>
              <a:t>and </a:t>
            </a:r>
            <a:r>
              <a:rPr lang="en-SG" sz="2400" b="1" dirty="0">
                <a:solidFill>
                  <a:srgbClr val="FF0000"/>
                </a:solidFill>
                <a:latin typeface="Courier New" panose="02070309020205020404" pitchFamily="49" charset="0"/>
                <a:cs typeface="Courier New" panose="02070309020205020404" pitchFamily="49" charset="0"/>
              </a:rPr>
              <a:t>_</a:t>
            </a:r>
            <a:r>
              <a:rPr lang="en-SG" sz="1050" b="1" dirty="0">
                <a:solidFill>
                  <a:srgbClr val="FF0000"/>
                </a:solidFill>
                <a:latin typeface="Courier New" panose="02070309020205020404" pitchFamily="49" charset="0"/>
                <a:cs typeface="Courier New" panose="02070309020205020404" pitchFamily="49" charset="0"/>
              </a:rPr>
              <a:t> </a:t>
            </a:r>
            <a:r>
              <a:rPr lang="en-SG" sz="2400" b="1" dirty="0">
                <a:solidFill>
                  <a:srgbClr val="FF0000"/>
                </a:solidFill>
                <a:latin typeface="Courier New" panose="02070309020205020404" pitchFamily="49" charset="0"/>
                <a:cs typeface="Courier New" panose="02070309020205020404" pitchFamily="49" charset="0"/>
              </a:rPr>
              <a:t>_sub_</a:t>
            </a:r>
            <a:r>
              <a:rPr lang="en-SG" sz="1000" b="1" dirty="0">
                <a:solidFill>
                  <a:srgbClr val="FF0000"/>
                </a:solidFill>
                <a:latin typeface="Courier New" panose="02070309020205020404" pitchFamily="49" charset="0"/>
                <a:cs typeface="Courier New" panose="02070309020205020404" pitchFamily="49" charset="0"/>
              </a:rPr>
              <a:t> </a:t>
            </a:r>
            <a:r>
              <a:rPr lang="en-SG" sz="2400" b="1" dirty="0">
                <a:solidFill>
                  <a:srgbClr val="FF0000"/>
                </a:solidFill>
                <a:latin typeface="Courier New" panose="02070309020205020404" pitchFamily="49" charset="0"/>
                <a:cs typeface="Courier New" panose="02070309020205020404" pitchFamily="49" charset="0"/>
              </a:rPr>
              <a:t>_ </a:t>
            </a:r>
            <a:r>
              <a:rPr lang="en-SG" sz="2400" dirty="0">
                <a:latin typeface="Arial" panose="020B0604020202020204" pitchFamily="34" charset="0"/>
                <a:cs typeface="Arial" panose="020B0604020202020204" pitchFamily="34" charset="0"/>
              </a:rPr>
              <a:t>will be called when </a:t>
            </a:r>
          </a:p>
          <a:p>
            <a:pPr marL="0" indent="0">
              <a:lnSpc>
                <a:spcPct val="100000"/>
              </a:lnSpc>
              <a:spcBef>
                <a:spcPts val="0"/>
              </a:spcBef>
              <a:spcAft>
                <a:spcPts val="0"/>
              </a:spcAft>
              <a:buNone/>
            </a:pPr>
            <a:r>
              <a:rPr lang="en-SG" sz="2400" dirty="0">
                <a:latin typeface="Arial" panose="020B0604020202020204" pitchFamily="34" charset="0"/>
                <a:cs typeface="Arial" panose="020B0604020202020204" pitchFamily="34" charset="0"/>
              </a:rPr>
              <a:t>    we use the arithmetic operation ‘+’ and ‘-’ for the objects in our code</a:t>
            </a:r>
          </a:p>
          <a:p>
            <a:pPr marL="0" indent="0">
              <a:lnSpc>
                <a:spcPct val="100000"/>
              </a:lnSpc>
              <a:spcBef>
                <a:spcPts val="0"/>
              </a:spcBef>
              <a:spcAft>
                <a:spcPts val="0"/>
              </a:spcAft>
              <a:buNone/>
            </a:pPr>
            <a:br>
              <a:rPr lang="en-SG" dirty="0"/>
            </a:br>
            <a:endParaRPr lang="en-SG" sz="2400" dirty="0">
              <a:latin typeface="Arial" panose="020B0604020202020204" pitchFamily="34" charset="0"/>
              <a:cs typeface="Arial" panose="020B0604020202020204" pitchFamily="34" charset="0"/>
            </a:endParaRPr>
          </a:p>
          <a:p>
            <a:endParaRPr lang="en-SG" sz="2400" dirty="0">
              <a:latin typeface="Arial" panose="020B0604020202020204" pitchFamily="34" charset="0"/>
              <a:cs typeface="Arial" panose="020B0604020202020204" pitchFamily="34" charset="0"/>
            </a:endParaRPr>
          </a:p>
          <a:p>
            <a:endParaRPr lang="en-SG" sz="2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AB9122A-E07F-9AEA-7DF4-6D088D2AF7CC}"/>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11</a:t>
            </a:fld>
            <a:endParaRPr lang="en-US" dirty="0"/>
          </a:p>
        </p:txBody>
      </p:sp>
      <p:pic>
        <p:nvPicPr>
          <p:cNvPr id="5" name="Picture 4">
            <a:extLst>
              <a:ext uri="{FF2B5EF4-FFF2-40B4-BE49-F238E27FC236}">
                <a16:creationId xmlns:a16="http://schemas.microsoft.com/office/drawing/2014/main" id="{17560376-70DA-87CE-64C9-388E0BFE5277}"/>
              </a:ext>
            </a:extLst>
          </p:cNvPr>
          <p:cNvPicPr>
            <a:picLocks noChangeAspect="1"/>
          </p:cNvPicPr>
          <p:nvPr/>
        </p:nvPicPr>
        <p:blipFill>
          <a:blip r:embed="rId3"/>
          <a:stretch>
            <a:fillRect/>
          </a:stretch>
        </p:blipFill>
        <p:spPr>
          <a:xfrm>
            <a:off x="5695788" y="3779670"/>
            <a:ext cx="6286823" cy="673135"/>
          </a:xfrm>
          <a:prstGeom prst="rect">
            <a:avLst/>
          </a:prstGeom>
        </p:spPr>
      </p:pic>
      <p:pic>
        <p:nvPicPr>
          <p:cNvPr id="9" name="Picture 8">
            <a:extLst>
              <a:ext uri="{FF2B5EF4-FFF2-40B4-BE49-F238E27FC236}">
                <a16:creationId xmlns:a16="http://schemas.microsoft.com/office/drawing/2014/main" id="{D2C91662-276B-486D-95B7-6A8CA9FB21BE}"/>
              </a:ext>
            </a:extLst>
          </p:cNvPr>
          <p:cNvPicPr>
            <a:picLocks noChangeAspect="1"/>
          </p:cNvPicPr>
          <p:nvPr/>
        </p:nvPicPr>
        <p:blipFill>
          <a:blip r:embed="rId4"/>
          <a:stretch>
            <a:fillRect/>
          </a:stretch>
        </p:blipFill>
        <p:spPr>
          <a:xfrm>
            <a:off x="5602433" y="4517081"/>
            <a:ext cx="2514729" cy="768389"/>
          </a:xfrm>
          <a:prstGeom prst="rect">
            <a:avLst/>
          </a:prstGeom>
        </p:spPr>
      </p:pic>
    </p:spTree>
    <p:extLst>
      <p:ext uri="{BB962C8B-B14F-4D97-AF65-F5344CB8AC3E}">
        <p14:creationId xmlns:p14="http://schemas.microsoft.com/office/powerpoint/2010/main" val="2602318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fade">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fade">
                                      <p:cBhvr>
                                        <p:cTn id="17" dur="500"/>
                                        <p:tgtEl>
                                          <p:spTgt spid="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xEl>
                                              <p:pRg st="4" end="4"/>
                                            </p:txEl>
                                          </p:spTgt>
                                        </p:tgtEl>
                                        <p:attrNameLst>
                                          <p:attrName>style.visibility</p:attrName>
                                        </p:attrNameLst>
                                      </p:cBhvr>
                                      <p:to>
                                        <p:strVal val="visible"/>
                                      </p:to>
                                    </p:set>
                                    <p:animEffect transition="in" filter="fade">
                                      <p:cBhvr>
                                        <p:cTn id="22" dur="500"/>
                                        <p:tgtEl>
                                          <p:spTgt spid="1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xEl>
                                              <p:pRg st="5" end="5"/>
                                            </p:txEl>
                                          </p:spTgt>
                                        </p:tgtEl>
                                        <p:attrNameLst>
                                          <p:attrName>style.visibility</p:attrName>
                                        </p:attrNameLst>
                                      </p:cBhvr>
                                      <p:to>
                                        <p:strVal val="visible"/>
                                      </p:to>
                                    </p:set>
                                    <p:animEffect transition="in" filter="fade">
                                      <p:cBhvr>
                                        <p:cTn id="27" dur="500"/>
                                        <p:tgtEl>
                                          <p:spTgt spid="1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xEl>
                                              <p:pRg st="7" end="7"/>
                                            </p:txEl>
                                          </p:spTgt>
                                        </p:tgtEl>
                                        <p:attrNameLst>
                                          <p:attrName>style.visibility</p:attrName>
                                        </p:attrNameLst>
                                      </p:cBhvr>
                                      <p:to>
                                        <p:strVal val="visible"/>
                                      </p:to>
                                    </p:set>
                                    <p:animEffect transition="in" filter="fade">
                                      <p:cBhvr>
                                        <p:cTn id="32" dur="500"/>
                                        <p:tgtEl>
                                          <p:spTgt spid="17">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xEl>
                                              <p:pRg st="8" end="8"/>
                                            </p:txEl>
                                          </p:spTgt>
                                        </p:tgtEl>
                                        <p:attrNameLst>
                                          <p:attrName>style.visibility</p:attrName>
                                        </p:attrNameLst>
                                      </p:cBhvr>
                                      <p:to>
                                        <p:strVal val="visible"/>
                                      </p:to>
                                    </p:set>
                                    <p:animEffect transition="in" filter="fade">
                                      <p:cBhvr>
                                        <p:cTn id="37" dur="500"/>
                                        <p:tgtEl>
                                          <p:spTgt spid="17">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
                                            <p:txEl>
                                              <p:pRg st="10" end="10"/>
                                            </p:txEl>
                                          </p:spTgt>
                                        </p:tgtEl>
                                        <p:attrNameLst>
                                          <p:attrName>style.visibility</p:attrName>
                                        </p:attrNameLst>
                                      </p:cBhvr>
                                      <p:to>
                                        <p:strVal val="visible"/>
                                      </p:to>
                                    </p:set>
                                    <p:animEffect transition="in" filter="fade">
                                      <p:cBhvr>
                                        <p:cTn id="42" dur="500"/>
                                        <p:tgtEl>
                                          <p:spTgt spid="17">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
                                            <p:txEl>
                                              <p:pRg st="11" end="11"/>
                                            </p:txEl>
                                          </p:spTgt>
                                        </p:tgtEl>
                                        <p:attrNameLst>
                                          <p:attrName>style.visibility</p:attrName>
                                        </p:attrNameLst>
                                      </p:cBhvr>
                                      <p:to>
                                        <p:strVal val="visible"/>
                                      </p:to>
                                    </p:set>
                                    <p:animEffect transition="in" filter="fade">
                                      <p:cBhvr>
                                        <p:cTn id="47" dur="500"/>
                                        <p:tgtEl>
                                          <p:spTgt spid="17">
                                            <p:txEl>
                                              <p:pRg st="11" end="11"/>
                                            </p:txEl>
                                          </p:spTgt>
                                        </p:tgtEl>
                                      </p:cBhvr>
                                    </p:animEffect>
                                  </p:childTnLst>
                                </p:cTn>
                              </p:par>
                            </p:childTnLst>
                          </p:cTn>
                        </p:par>
                        <p:par>
                          <p:cTn id="48" fill="hold">
                            <p:stCondLst>
                              <p:cond delay="500"/>
                            </p:stCondLst>
                            <p:childTnLst>
                              <p:par>
                                <p:cTn id="49" presetID="10" presetClass="entr" presetSubtype="0" fill="hold" nodeType="afterEffect">
                                  <p:stCondLst>
                                    <p:cond delay="0"/>
                                  </p:stCondLst>
                                  <p:childTnLst>
                                    <p:set>
                                      <p:cBhvr>
                                        <p:cTn id="50" dur="1" fill="hold">
                                          <p:stCondLst>
                                            <p:cond delay="0"/>
                                          </p:stCondLst>
                                        </p:cTn>
                                        <p:tgtEl>
                                          <p:spTgt spid="17">
                                            <p:txEl>
                                              <p:pRg st="12" end="12"/>
                                            </p:txEl>
                                          </p:spTgt>
                                        </p:tgtEl>
                                        <p:attrNameLst>
                                          <p:attrName>style.visibility</p:attrName>
                                        </p:attrNameLst>
                                      </p:cBhvr>
                                      <p:to>
                                        <p:strVal val="visible"/>
                                      </p:to>
                                    </p:set>
                                    <p:animEffect transition="in" filter="fade">
                                      <p:cBhvr>
                                        <p:cTn id="51" dur="500"/>
                                        <p:tgtEl>
                                          <p:spTgt spid="17">
                                            <p:txEl>
                                              <p:pRg st="12" end="1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fade">
                                      <p:cBhvr>
                                        <p:cTn id="56" dur="500"/>
                                        <p:tgtEl>
                                          <p:spTgt spid="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fade">
                                      <p:cBhvr>
                                        <p:cTn id="61" dur="500"/>
                                        <p:tgtEl>
                                          <p:spTgt spid="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7">
                                            <p:txEl>
                                              <p:pRg st="14" end="14"/>
                                            </p:txEl>
                                          </p:spTgt>
                                        </p:tgtEl>
                                        <p:attrNameLst>
                                          <p:attrName>style.visibility</p:attrName>
                                        </p:attrNameLst>
                                      </p:cBhvr>
                                      <p:to>
                                        <p:strVal val="visible"/>
                                      </p:to>
                                    </p:set>
                                    <p:animEffect transition="in" filter="fade">
                                      <p:cBhvr>
                                        <p:cTn id="66" dur="500"/>
                                        <p:tgtEl>
                                          <p:spTgt spid="17">
                                            <p:txEl>
                                              <p:pRg st="14" end="14"/>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7">
                                            <p:txEl>
                                              <p:pRg st="15" end="15"/>
                                            </p:txEl>
                                          </p:spTgt>
                                        </p:tgtEl>
                                        <p:attrNameLst>
                                          <p:attrName>style.visibility</p:attrName>
                                        </p:attrNameLst>
                                      </p:cBhvr>
                                      <p:to>
                                        <p:strVal val="visible"/>
                                      </p:to>
                                    </p:set>
                                    <p:animEffect transition="in" filter="fade">
                                      <p:cBhvr>
                                        <p:cTn id="71" dur="500"/>
                                        <p:tgtEl>
                                          <p:spTgt spid="17">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00153-56E2-A0B1-9F4D-C6E080209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352EB-077F-6AC9-F5A2-176392ADAC2C}"/>
              </a:ext>
            </a:extLst>
          </p:cNvPr>
          <p:cNvSpPr>
            <a:spLocks noGrp="1"/>
          </p:cNvSpPr>
          <p:nvPr>
            <p:ph type="title"/>
          </p:nvPr>
        </p:nvSpPr>
        <p:spPr>
          <a:xfrm>
            <a:off x="527352" y="333204"/>
            <a:ext cx="9692640" cy="689317"/>
          </a:xfrm>
        </p:spPr>
        <p:txBody>
          <a:bodyPr>
            <a:noAutofit/>
          </a:bodyPr>
          <a:lstStyle/>
          <a:p>
            <a:r>
              <a:rPr lang="en-SG" sz="3600" dirty="0">
                <a:solidFill>
                  <a:srgbClr val="C00000"/>
                </a:solidFill>
              </a:rPr>
              <a:t>Finger Exercise: _ _add_ _ magic method</a:t>
            </a:r>
            <a:endParaRPr lang="en-SG" sz="3200" b="1" dirty="0">
              <a:solidFill>
                <a:srgbClr val="C00000"/>
              </a:solidFill>
            </a:endParaRPr>
          </a:p>
        </p:txBody>
      </p:sp>
      <p:sp>
        <p:nvSpPr>
          <p:cNvPr id="17" name="Content Placeholder 16">
            <a:extLst>
              <a:ext uri="{FF2B5EF4-FFF2-40B4-BE49-F238E27FC236}">
                <a16:creationId xmlns:a16="http://schemas.microsoft.com/office/drawing/2014/main" id="{08E0574B-2ED9-D9C8-314F-88686B9EE9CA}"/>
              </a:ext>
            </a:extLst>
          </p:cNvPr>
          <p:cNvSpPr>
            <a:spLocks noGrp="1"/>
          </p:cNvSpPr>
          <p:nvPr>
            <p:ph idx="1"/>
          </p:nvPr>
        </p:nvSpPr>
        <p:spPr>
          <a:xfrm>
            <a:off x="215900" y="1256045"/>
            <a:ext cx="11664648" cy="2172956"/>
          </a:xfrm>
        </p:spPr>
        <p:txBody>
          <a:bodyPr>
            <a:noAutofit/>
          </a:bodyPr>
          <a:lstStyle/>
          <a:p>
            <a:pPr marL="0" indent="0">
              <a:buNone/>
            </a:pPr>
            <a:r>
              <a:rPr lang="en-SG" sz="2400" dirty="0">
                <a:latin typeface="Arial" panose="020B0604020202020204" pitchFamily="34" charset="0"/>
                <a:cs typeface="Arial" panose="020B0604020202020204" pitchFamily="34" charset="0"/>
              </a:rPr>
              <a:t>Define an </a:t>
            </a:r>
            <a:r>
              <a:rPr lang="en-SG" sz="2400" b="1" dirty="0">
                <a:solidFill>
                  <a:srgbClr val="FF0000"/>
                </a:solidFill>
                <a:latin typeface="Courier New" panose="02070309020205020404" pitchFamily="49" charset="0"/>
                <a:cs typeface="Courier New" panose="02070309020205020404" pitchFamily="49" charset="0"/>
              </a:rPr>
              <a:t>_</a:t>
            </a:r>
            <a:r>
              <a:rPr lang="en-SG" sz="1050" b="1" dirty="0">
                <a:solidFill>
                  <a:srgbClr val="FF0000"/>
                </a:solidFill>
                <a:latin typeface="Courier New" panose="02070309020205020404" pitchFamily="49" charset="0"/>
                <a:cs typeface="Courier New" panose="02070309020205020404" pitchFamily="49" charset="0"/>
              </a:rPr>
              <a:t> </a:t>
            </a:r>
            <a:r>
              <a:rPr lang="en-SG" sz="2400" b="1" dirty="0">
                <a:solidFill>
                  <a:srgbClr val="FF0000"/>
                </a:solidFill>
                <a:latin typeface="Courier New" panose="02070309020205020404" pitchFamily="49" charset="0"/>
                <a:cs typeface="Courier New" panose="02070309020205020404" pitchFamily="49" charset="0"/>
              </a:rPr>
              <a:t>_add_</a:t>
            </a:r>
            <a:r>
              <a:rPr lang="en-SG" sz="1000" b="1" dirty="0">
                <a:solidFill>
                  <a:srgbClr val="FF0000"/>
                </a:solidFill>
                <a:latin typeface="Courier New" panose="02070309020205020404" pitchFamily="49" charset="0"/>
                <a:cs typeface="Courier New" panose="02070309020205020404" pitchFamily="49" charset="0"/>
              </a:rPr>
              <a:t> </a:t>
            </a:r>
            <a:r>
              <a:rPr lang="en-SG" sz="2400" b="1" dirty="0">
                <a:solidFill>
                  <a:srgbClr val="FF0000"/>
                </a:solidFill>
                <a:latin typeface="Courier New" panose="02070309020205020404" pitchFamily="49" charset="0"/>
                <a:cs typeface="Courier New" panose="02070309020205020404" pitchFamily="49" charset="0"/>
              </a:rPr>
              <a:t>_</a:t>
            </a:r>
            <a:r>
              <a:rPr lang="en-SG" sz="2400" dirty="0">
                <a:solidFill>
                  <a:srgbClr val="FF0000"/>
                </a:solidFill>
                <a:latin typeface="Courier New" panose="02070309020205020404" pitchFamily="49" charset="0"/>
                <a:cs typeface="Courier New" panose="02070309020205020404" pitchFamily="49" charset="0"/>
              </a:rPr>
              <a:t> </a:t>
            </a:r>
            <a:r>
              <a:rPr lang="en-SG" sz="2400" dirty="0">
                <a:latin typeface="Arial" panose="020B0604020202020204" pitchFamily="34" charset="0"/>
                <a:cs typeface="Arial" panose="020B0604020202020204" pitchFamily="34" charset="0"/>
              </a:rPr>
              <a:t>magic method that will be called when we use the ‘+’ in our code</a:t>
            </a:r>
          </a:p>
          <a:p>
            <a:pPr marL="0" indent="0">
              <a:buNone/>
            </a:pPr>
            <a:r>
              <a:rPr lang="en-SG" sz="2400" dirty="0">
                <a:latin typeface="Arial" panose="020B0604020202020204" pitchFamily="34" charset="0"/>
                <a:cs typeface="Arial" panose="020B0604020202020204" pitchFamily="34" charset="0"/>
              </a:rPr>
              <a:t> </a:t>
            </a:r>
          </a:p>
          <a:p>
            <a:endParaRPr lang="en-SG" sz="2400" dirty="0">
              <a:latin typeface="Arial" panose="020B0604020202020204" pitchFamily="34" charset="0"/>
              <a:cs typeface="Arial" panose="020B0604020202020204" pitchFamily="34" charset="0"/>
            </a:endParaRPr>
          </a:p>
          <a:p>
            <a:endParaRPr lang="en-SG" sz="2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C8339B1-DEE0-8751-9724-249906BFF443}"/>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12</a:t>
            </a:fld>
            <a:endParaRPr lang="en-US" dirty="0"/>
          </a:p>
        </p:txBody>
      </p:sp>
      <p:sp>
        <p:nvSpPr>
          <p:cNvPr id="5" name="TextBox 4">
            <a:extLst>
              <a:ext uri="{FF2B5EF4-FFF2-40B4-BE49-F238E27FC236}">
                <a16:creationId xmlns:a16="http://schemas.microsoft.com/office/drawing/2014/main" id="{E6B7E9B2-1D3F-CA31-33D7-2B326B9D957F}"/>
              </a:ext>
            </a:extLst>
          </p:cNvPr>
          <p:cNvSpPr txBox="1"/>
          <p:nvPr/>
        </p:nvSpPr>
        <p:spPr>
          <a:xfrm>
            <a:off x="1271814" y="1815815"/>
            <a:ext cx="10920186" cy="4708981"/>
          </a:xfrm>
          <a:prstGeom prst="rect">
            <a:avLst/>
          </a:prstGeom>
          <a:noFill/>
          <a:ln>
            <a:noFill/>
          </a:ln>
        </p:spPr>
        <p:txBody>
          <a:bodyPr wrap="square">
            <a:spAutoFit/>
          </a:bodyPr>
          <a:lstStyle/>
          <a:p>
            <a:r>
              <a:rPr lang="en-SG" sz="2200" b="1" dirty="0">
                <a:solidFill>
                  <a:srgbClr val="FF0000"/>
                </a:solidFill>
                <a:latin typeface="Courier New" panose="02070309020205020404" pitchFamily="49" charset="0"/>
                <a:cs typeface="Courier New" panose="02070309020205020404" pitchFamily="49" charset="0"/>
              </a:rPr>
              <a:t>class Vector: </a:t>
            </a:r>
          </a:p>
          <a:p>
            <a:r>
              <a:rPr lang="en-SG" sz="2200" b="1" dirty="0">
                <a:solidFill>
                  <a:srgbClr val="FF0000"/>
                </a:solidFill>
                <a:latin typeface="Courier New" panose="02070309020205020404" pitchFamily="49" charset="0"/>
                <a:cs typeface="Courier New" panose="02070309020205020404" pitchFamily="49" charset="0"/>
              </a:rPr>
              <a:t>   def __</a:t>
            </a:r>
            <a:r>
              <a:rPr lang="en-SG" sz="2200" b="1" dirty="0" err="1">
                <a:solidFill>
                  <a:srgbClr val="FF0000"/>
                </a:solidFill>
                <a:latin typeface="Courier New" panose="02070309020205020404" pitchFamily="49" charset="0"/>
                <a:cs typeface="Courier New" panose="02070309020205020404" pitchFamily="49" charset="0"/>
              </a:rPr>
              <a:t>init</a:t>
            </a:r>
            <a:r>
              <a:rPr lang="en-SG" sz="2200" b="1" dirty="0">
                <a:solidFill>
                  <a:srgbClr val="FF0000"/>
                </a:solidFill>
                <a:latin typeface="Courier New" panose="02070309020205020404" pitchFamily="49" charset="0"/>
                <a:cs typeface="Courier New" panose="02070309020205020404" pitchFamily="49" charset="0"/>
              </a:rPr>
              <a:t>__(self, x, y):</a:t>
            </a:r>
          </a:p>
          <a:p>
            <a:r>
              <a:rPr lang="en-SG" sz="2200" b="1" dirty="0">
                <a:solidFill>
                  <a:srgbClr val="FF0000"/>
                </a:solidFill>
                <a:latin typeface="Courier New" panose="02070309020205020404" pitchFamily="49" charset="0"/>
                <a:cs typeface="Courier New" panose="02070309020205020404" pitchFamily="49" charset="0"/>
              </a:rPr>
              <a:t>        </a:t>
            </a:r>
            <a:r>
              <a:rPr lang="en-SG" sz="2200" b="1" dirty="0" err="1">
                <a:solidFill>
                  <a:srgbClr val="FF0000"/>
                </a:solidFill>
                <a:latin typeface="Courier New" panose="02070309020205020404" pitchFamily="49" charset="0"/>
                <a:cs typeface="Courier New" panose="02070309020205020404" pitchFamily="49" charset="0"/>
              </a:rPr>
              <a:t>self.x</a:t>
            </a:r>
            <a:r>
              <a:rPr lang="en-SG" sz="2200" b="1" dirty="0">
                <a:solidFill>
                  <a:srgbClr val="FF0000"/>
                </a:solidFill>
                <a:latin typeface="Courier New" panose="02070309020205020404" pitchFamily="49" charset="0"/>
                <a:cs typeface="Courier New" panose="02070309020205020404" pitchFamily="49" charset="0"/>
              </a:rPr>
              <a:t> = x</a:t>
            </a:r>
          </a:p>
          <a:p>
            <a:r>
              <a:rPr lang="en-SG" sz="2200" b="1" dirty="0">
                <a:solidFill>
                  <a:srgbClr val="FF0000"/>
                </a:solidFill>
                <a:latin typeface="Courier New" panose="02070309020205020404" pitchFamily="49" charset="0"/>
                <a:cs typeface="Courier New" panose="02070309020205020404" pitchFamily="49" charset="0"/>
              </a:rPr>
              <a:t>        </a:t>
            </a:r>
            <a:r>
              <a:rPr lang="en-SG" sz="2200" b="1" dirty="0" err="1">
                <a:solidFill>
                  <a:srgbClr val="FF0000"/>
                </a:solidFill>
                <a:latin typeface="Courier New" panose="02070309020205020404" pitchFamily="49" charset="0"/>
                <a:cs typeface="Courier New" panose="02070309020205020404" pitchFamily="49" charset="0"/>
              </a:rPr>
              <a:t>self.y</a:t>
            </a:r>
            <a:r>
              <a:rPr lang="en-SG" sz="2200" b="1" dirty="0">
                <a:solidFill>
                  <a:srgbClr val="FF0000"/>
                </a:solidFill>
                <a:latin typeface="Courier New" panose="02070309020205020404" pitchFamily="49" charset="0"/>
                <a:cs typeface="Courier New" panose="02070309020205020404" pitchFamily="49" charset="0"/>
              </a:rPr>
              <a:t> = y</a:t>
            </a:r>
          </a:p>
          <a:p>
            <a:r>
              <a:rPr lang="en-SG" sz="2200" b="1" dirty="0">
                <a:solidFill>
                  <a:srgbClr val="FF0000"/>
                </a:solidFill>
                <a:latin typeface="Courier New" panose="02070309020205020404" pitchFamily="49" charset="0"/>
                <a:cs typeface="Courier New" panose="02070309020205020404" pitchFamily="49" charset="0"/>
              </a:rPr>
              <a:t>   def __add__(self, other): </a:t>
            </a:r>
            <a:r>
              <a:rPr lang="en-SG" sz="2200" b="1" dirty="0">
                <a:solidFill>
                  <a:srgbClr val="00B050"/>
                </a:solidFill>
                <a:latin typeface="Courier New" panose="02070309020205020404" pitchFamily="49" charset="0"/>
                <a:cs typeface="Courier New" panose="02070309020205020404" pitchFamily="49" charset="0"/>
              </a:rPr>
              <a:t>#add two vectors: self and other</a:t>
            </a:r>
          </a:p>
          <a:p>
            <a:r>
              <a:rPr lang="en-SG" sz="2200" b="1" dirty="0">
                <a:solidFill>
                  <a:srgbClr val="FF0000"/>
                </a:solidFill>
                <a:latin typeface="Courier New" panose="02070309020205020404" pitchFamily="49" charset="0"/>
                <a:cs typeface="Courier New" panose="02070309020205020404" pitchFamily="49" charset="0"/>
              </a:rPr>
              <a:t>        return Vector(</a:t>
            </a:r>
            <a:r>
              <a:rPr lang="en-SG" sz="2200" b="1" dirty="0" err="1">
                <a:solidFill>
                  <a:srgbClr val="FF0000"/>
                </a:solidFill>
                <a:latin typeface="Courier New" panose="02070309020205020404" pitchFamily="49" charset="0"/>
                <a:cs typeface="Courier New" panose="02070309020205020404" pitchFamily="49" charset="0"/>
              </a:rPr>
              <a:t>self.x</a:t>
            </a:r>
            <a:r>
              <a:rPr lang="en-SG" sz="2200" b="1" dirty="0">
                <a:solidFill>
                  <a:srgbClr val="FF0000"/>
                </a:solidFill>
                <a:latin typeface="Courier New" panose="02070309020205020404" pitchFamily="49" charset="0"/>
                <a:cs typeface="Courier New" panose="02070309020205020404" pitchFamily="49" charset="0"/>
              </a:rPr>
              <a:t> + </a:t>
            </a:r>
            <a:r>
              <a:rPr lang="en-SG" sz="2200" b="1" dirty="0" err="1">
                <a:solidFill>
                  <a:srgbClr val="FF0000"/>
                </a:solidFill>
                <a:latin typeface="Courier New" panose="02070309020205020404" pitchFamily="49" charset="0"/>
                <a:cs typeface="Courier New" panose="02070309020205020404" pitchFamily="49" charset="0"/>
              </a:rPr>
              <a:t>other.x</a:t>
            </a:r>
            <a:r>
              <a:rPr lang="en-SG" sz="2200" b="1" dirty="0">
                <a:solidFill>
                  <a:srgbClr val="FF0000"/>
                </a:solidFill>
                <a:latin typeface="Courier New" panose="02070309020205020404" pitchFamily="49" charset="0"/>
                <a:cs typeface="Courier New" panose="02070309020205020404" pitchFamily="49" charset="0"/>
              </a:rPr>
              <a:t>, </a:t>
            </a:r>
            <a:r>
              <a:rPr lang="en-SG" sz="2200" b="1" dirty="0" err="1">
                <a:solidFill>
                  <a:srgbClr val="FF0000"/>
                </a:solidFill>
                <a:latin typeface="Courier New" panose="02070309020205020404" pitchFamily="49" charset="0"/>
                <a:cs typeface="Courier New" panose="02070309020205020404" pitchFamily="49" charset="0"/>
              </a:rPr>
              <a:t>self.y</a:t>
            </a:r>
            <a:r>
              <a:rPr lang="en-SG" sz="2200" b="1" dirty="0">
                <a:solidFill>
                  <a:srgbClr val="FF0000"/>
                </a:solidFill>
                <a:latin typeface="Courier New" panose="02070309020205020404" pitchFamily="49" charset="0"/>
                <a:cs typeface="Courier New" panose="02070309020205020404" pitchFamily="49" charset="0"/>
              </a:rPr>
              <a:t> + </a:t>
            </a:r>
            <a:r>
              <a:rPr lang="en-SG" sz="2200" b="1" dirty="0" err="1">
                <a:solidFill>
                  <a:srgbClr val="FF0000"/>
                </a:solidFill>
                <a:latin typeface="Courier New" panose="02070309020205020404" pitchFamily="49" charset="0"/>
                <a:cs typeface="Courier New" panose="02070309020205020404" pitchFamily="49" charset="0"/>
              </a:rPr>
              <a:t>other.y</a:t>
            </a:r>
            <a:r>
              <a:rPr lang="en-SG" sz="2200" b="1" dirty="0">
                <a:solidFill>
                  <a:srgbClr val="FF0000"/>
                </a:solidFill>
                <a:latin typeface="Courier New" panose="02070309020205020404" pitchFamily="49" charset="0"/>
                <a:cs typeface="Courier New" panose="02070309020205020404" pitchFamily="49" charset="0"/>
              </a:rPr>
              <a:t>)</a:t>
            </a:r>
          </a:p>
          <a:p>
            <a:r>
              <a:rPr lang="en-SG" sz="2200" b="1" dirty="0">
                <a:solidFill>
                  <a:srgbClr val="FF0000"/>
                </a:solidFill>
                <a:latin typeface="Courier New" panose="02070309020205020404" pitchFamily="49" charset="0"/>
                <a:cs typeface="Courier New" panose="02070309020205020404" pitchFamily="49" charset="0"/>
              </a:rPr>
              <a:t>   def __str__(self):</a:t>
            </a:r>
          </a:p>
          <a:p>
            <a:r>
              <a:rPr lang="en-SG" sz="2200" b="1" dirty="0">
                <a:solidFill>
                  <a:srgbClr val="FF0000"/>
                </a:solidFill>
                <a:latin typeface="Courier New" panose="02070309020205020404" pitchFamily="49" charset="0"/>
                <a:cs typeface="Courier New" panose="02070309020205020404" pitchFamily="49" charset="0"/>
              </a:rPr>
              <a:t>        return </a:t>
            </a:r>
            <a:r>
              <a:rPr lang="en-SG" sz="2200" b="1" dirty="0" err="1">
                <a:solidFill>
                  <a:srgbClr val="FF0000"/>
                </a:solidFill>
                <a:latin typeface="Courier New" panose="02070309020205020404" pitchFamily="49" charset="0"/>
                <a:cs typeface="Courier New" panose="02070309020205020404" pitchFamily="49" charset="0"/>
              </a:rPr>
              <a:t>f"Vector</a:t>
            </a:r>
            <a:r>
              <a:rPr lang="en-SG" sz="2200" b="1" dirty="0">
                <a:solidFill>
                  <a:srgbClr val="FF0000"/>
                </a:solidFill>
                <a:latin typeface="Courier New" panose="02070309020205020404" pitchFamily="49" charset="0"/>
                <a:cs typeface="Courier New" panose="02070309020205020404" pitchFamily="49" charset="0"/>
              </a:rPr>
              <a:t>({</a:t>
            </a:r>
            <a:r>
              <a:rPr lang="en-SG" sz="2200" b="1" dirty="0" err="1">
                <a:solidFill>
                  <a:srgbClr val="FF0000"/>
                </a:solidFill>
                <a:latin typeface="Courier New" panose="02070309020205020404" pitchFamily="49" charset="0"/>
                <a:cs typeface="Courier New" panose="02070309020205020404" pitchFamily="49" charset="0"/>
              </a:rPr>
              <a:t>self.x</a:t>
            </a:r>
            <a:r>
              <a:rPr lang="en-SG" sz="2200" b="1" dirty="0">
                <a:solidFill>
                  <a:srgbClr val="FF0000"/>
                </a:solidFill>
                <a:latin typeface="Courier New" panose="02070309020205020404" pitchFamily="49" charset="0"/>
                <a:cs typeface="Courier New" panose="02070309020205020404" pitchFamily="49" charset="0"/>
              </a:rPr>
              <a:t>}, {</a:t>
            </a:r>
            <a:r>
              <a:rPr lang="en-SG" sz="2200" b="1" dirty="0" err="1">
                <a:solidFill>
                  <a:srgbClr val="FF0000"/>
                </a:solidFill>
                <a:latin typeface="Courier New" panose="02070309020205020404" pitchFamily="49" charset="0"/>
                <a:cs typeface="Courier New" panose="02070309020205020404" pitchFamily="49" charset="0"/>
              </a:rPr>
              <a:t>self.y</a:t>
            </a:r>
            <a:r>
              <a:rPr lang="en-SG" sz="2200" b="1" dirty="0">
                <a:solidFill>
                  <a:srgbClr val="FF0000"/>
                </a:solidFill>
                <a:latin typeface="Courier New" panose="02070309020205020404" pitchFamily="49" charset="0"/>
                <a:cs typeface="Courier New" panose="02070309020205020404" pitchFamily="49" charset="0"/>
              </a:rPr>
              <a:t>})"</a:t>
            </a:r>
          </a:p>
          <a:p>
            <a:endParaRPr lang="en-SG" sz="1400" b="1" dirty="0">
              <a:solidFill>
                <a:srgbClr val="0070C0"/>
              </a:solidFill>
              <a:latin typeface="Courier New" panose="02070309020205020404" pitchFamily="49" charset="0"/>
              <a:cs typeface="Courier New" panose="02070309020205020404" pitchFamily="49" charset="0"/>
            </a:endParaRPr>
          </a:p>
          <a:p>
            <a:r>
              <a:rPr lang="en-SG" sz="2200" b="1" dirty="0">
                <a:solidFill>
                  <a:srgbClr val="FF0000"/>
                </a:solidFill>
                <a:latin typeface="Courier New" panose="02070309020205020404" pitchFamily="49" charset="0"/>
                <a:cs typeface="Courier New" panose="02070309020205020404" pitchFamily="49" charset="0"/>
              </a:rPr>
              <a:t># Usage example</a:t>
            </a:r>
          </a:p>
          <a:p>
            <a:r>
              <a:rPr lang="en-SG" sz="2200" b="1" dirty="0">
                <a:solidFill>
                  <a:srgbClr val="FF0000"/>
                </a:solidFill>
                <a:latin typeface="Courier New" panose="02070309020205020404" pitchFamily="49" charset="0"/>
                <a:cs typeface="Courier New" panose="02070309020205020404" pitchFamily="49" charset="0"/>
              </a:rPr>
              <a:t>v1 = Vector(1, 2)</a:t>
            </a:r>
          </a:p>
          <a:p>
            <a:r>
              <a:rPr lang="en-SG" sz="2200" b="1" dirty="0">
                <a:solidFill>
                  <a:srgbClr val="FF0000"/>
                </a:solidFill>
                <a:latin typeface="Courier New" panose="02070309020205020404" pitchFamily="49" charset="0"/>
                <a:cs typeface="Courier New" panose="02070309020205020404" pitchFamily="49" charset="0"/>
              </a:rPr>
              <a:t>v2 = Vector(3, 4)</a:t>
            </a:r>
          </a:p>
          <a:p>
            <a:r>
              <a:rPr lang="en-SG" sz="2200" b="1" dirty="0">
                <a:solidFill>
                  <a:srgbClr val="FF0000"/>
                </a:solidFill>
                <a:latin typeface="Courier New" panose="02070309020205020404" pitchFamily="49" charset="0"/>
                <a:cs typeface="Courier New" panose="02070309020205020404" pitchFamily="49" charset="0"/>
              </a:rPr>
              <a:t>result = v1 + v2</a:t>
            </a:r>
          </a:p>
          <a:p>
            <a:r>
              <a:rPr lang="en-SG" sz="2200" b="1" dirty="0">
                <a:solidFill>
                  <a:srgbClr val="FF0000"/>
                </a:solidFill>
                <a:latin typeface="Courier New" panose="02070309020205020404" pitchFamily="49" charset="0"/>
                <a:cs typeface="Courier New" panose="02070309020205020404" pitchFamily="49" charset="0"/>
              </a:rPr>
              <a:t>print(result)  </a:t>
            </a:r>
            <a:r>
              <a:rPr lang="en-SG" sz="2200" b="1" dirty="0">
                <a:solidFill>
                  <a:srgbClr val="00B050"/>
                </a:solidFill>
                <a:latin typeface="Courier New" panose="02070309020205020404" pitchFamily="49" charset="0"/>
                <a:cs typeface="Courier New" panose="02070309020205020404" pitchFamily="49" charset="0"/>
              </a:rPr>
              <a:t># Output: Vector(4, 6)</a:t>
            </a:r>
          </a:p>
        </p:txBody>
      </p:sp>
    </p:spTree>
    <p:extLst>
      <p:ext uri="{BB962C8B-B14F-4D97-AF65-F5344CB8AC3E}">
        <p14:creationId xmlns:p14="http://schemas.microsoft.com/office/powerpoint/2010/main" val="1447617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fade">
                                      <p:cBhvr>
                                        <p:cTn id="12" dur="500"/>
                                        <p:tgtEl>
                                          <p:spTgt spid="1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DB10C-199C-B306-7296-72BC117EF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D04D4-A83F-684F-0CDE-1FF3684F1F8C}"/>
              </a:ext>
            </a:extLst>
          </p:cNvPr>
          <p:cNvSpPr>
            <a:spLocks noGrp="1"/>
          </p:cNvSpPr>
          <p:nvPr>
            <p:ph type="title"/>
          </p:nvPr>
        </p:nvSpPr>
        <p:spPr/>
        <p:txBody>
          <a:bodyPr>
            <a:normAutofit/>
          </a:bodyPr>
          <a:lstStyle/>
          <a:p>
            <a:r>
              <a:rPr lang="en-SG" sz="4000" b="1" dirty="0">
                <a:solidFill>
                  <a:srgbClr val="C00000"/>
                </a:solidFill>
              </a:rPr>
              <a:t>Class Abstraction</a:t>
            </a:r>
          </a:p>
        </p:txBody>
      </p:sp>
      <p:sp>
        <p:nvSpPr>
          <p:cNvPr id="5" name="Content Placeholder 4">
            <a:extLst>
              <a:ext uri="{FF2B5EF4-FFF2-40B4-BE49-F238E27FC236}">
                <a16:creationId xmlns:a16="http://schemas.microsoft.com/office/drawing/2014/main" id="{B46A748D-F573-F933-3449-FD507904BBFE}"/>
              </a:ext>
            </a:extLst>
          </p:cNvPr>
          <p:cNvSpPr>
            <a:spLocks noGrp="1"/>
          </p:cNvSpPr>
          <p:nvPr>
            <p:ph idx="1"/>
          </p:nvPr>
        </p:nvSpPr>
        <p:spPr>
          <a:xfrm>
            <a:off x="527352" y="1256044"/>
            <a:ext cx="11397948" cy="5373356"/>
          </a:xfrm>
        </p:spPr>
        <p:txBody>
          <a:bodyPr>
            <a:normAutofit/>
          </a:bodyPr>
          <a:lstStyle/>
          <a:p>
            <a:pPr marL="0" indent="0">
              <a:lnSpc>
                <a:spcPct val="100000"/>
              </a:lnSpc>
              <a:spcBef>
                <a:spcPts val="600"/>
              </a:spcBef>
              <a:spcAft>
                <a:spcPts val="0"/>
              </a:spcAft>
              <a:buNone/>
            </a:pPr>
            <a:r>
              <a:rPr lang="en-SG" sz="2400" dirty="0">
                <a:latin typeface="Arial" panose="020B0604020202020204" pitchFamily="34" charset="0"/>
                <a:cs typeface="Arial" panose="020B0604020202020204" pitchFamily="34" charset="0"/>
              </a:rPr>
              <a:t>Abstraction allows us to show only the important information provided by a class </a:t>
            </a:r>
          </a:p>
          <a:p>
            <a:pPr marL="358775" indent="-358775">
              <a:lnSpc>
                <a:spcPct val="100000"/>
              </a:lnSpc>
              <a:spcBef>
                <a:spcPts val="600"/>
              </a:spcBef>
              <a:spcAft>
                <a:spcPts val="0"/>
              </a:spcAft>
            </a:pPr>
            <a:r>
              <a:rPr lang="en-SG" sz="2400" dirty="0">
                <a:latin typeface="Arial" panose="020B0604020202020204" pitchFamily="34" charset="0"/>
                <a:cs typeface="Arial" panose="020B0604020202020204" pitchFamily="34" charset="0"/>
              </a:rPr>
              <a:t>while hiding the complex parts that the user doesn't need to see/know.</a:t>
            </a:r>
          </a:p>
          <a:p>
            <a:pPr marL="0" indent="0">
              <a:lnSpc>
                <a:spcPct val="100000"/>
              </a:lnSpc>
              <a:spcBef>
                <a:spcPts val="600"/>
              </a:spcBef>
              <a:spcAft>
                <a:spcPts val="0"/>
              </a:spcAft>
              <a:buNone/>
            </a:pPr>
            <a:endParaRPr lang="en-SG" sz="105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Example: A Rectangle class</a:t>
            </a:r>
          </a:p>
          <a:p>
            <a:pPr marL="0" indent="0">
              <a:lnSpc>
                <a:spcPct val="100000"/>
              </a:lnSpc>
              <a:spcBef>
                <a:spcPts val="600"/>
              </a:spcBef>
              <a:spcAft>
                <a:spcPts val="0"/>
              </a:spcAft>
              <a:buNone/>
            </a:pPr>
            <a:endParaRPr lang="en-SG" sz="2400" dirty="0">
              <a:solidFill>
                <a:srgbClr val="373A3C"/>
              </a:solidFill>
              <a:effectLst/>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endParaRPr lang="en-SG" sz="2400" dirty="0">
              <a:solidFill>
                <a:srgbClr val="373A3C"/>
              </a:solidFill>
              <a:effectLst/>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endParaRPr lang="en-SG" sz="2400" dirty="0">
              <a:solidFill>
                <a:srgbClr val="373A3C"/>
              </a:solidFill>
              <a:effectLst/>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i.e. we don’t need to know how the two methods, </a:t>
            </a:r>
            <a:r>
              <a:rPr lang="en-SG" sz="2400" b="1" dirty="0">
                <a:solidFill>
                  <a:srgbClr val="0070C0"/>
                </a:solidFill>
                <a:latin typeface="Courier New" panose="02070309020205020404" pitchFamily="49" charset="0"/>
                <a:ea typeface="DengXian" panose="02010600030101010101" pitchFamily="2" charset="-122"/>
                <a:cs typeface="Courier New" panose="02070309020205020404" pitchFamily="49" charset="0"/>
              </a:rPr>
              <a:t>area()</a:t>
            </a: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 and </a:t>
            </a:r>
            <a:r>
              <a:rPr lang="en-SG" sz="2400" b="1" dirty="0">
                <a:solidFill>
                  <a:srgbClr val="0070C0"/>
                </a:solidFill>
                <a:latin typeface="Courier New" panose="02070309020205020404" pitchFamily="49" charset="0"/>
                <a:ea typeface="DengXian" panose="02010600030101010101" pitchFamily="2" charset="-122"/>
                <a:cs typeface="Courier New" panose="02070309020205020404" pitchFamily="49" charset="0"/>
              </a:rPr>
              <a:t>perimeter()</a:t>
            </a:r>
            <a:r>
              <a:rPr lang="en-SG" sz="2400" b="1" dirty="0">
                <a:solidFill>
                  <a:srgbClr val="373A3C"/>
                </a:solidFill>
                <a:latin typeface="Courier New" panose="02070309020205020404" pitchFamily="49" charset="0"/>
                <a:ea typeface="DengXian" panose="02010600030101010101" pitchFamily="2" charset="-122"/>
                <a:cs typeface="Courier New" panose="02070309020205020404" pitchFamily="49" charset="0"/>
              </a:rPr>
              <a:t>, </a:t>
            </a: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are computed when calling them</a:t>
            </a:r>
          </a:p>
          <a:p>
            <a:pPr marL="0" indent="0">
              <a:lnSpc>
                <a:spcPct val="100000"/>
              </a:lnSpc>
              <a:spcBef>
                <a:spcPts val="600"/>
              </a:spcBef>
              <a:spcAft>
                <a:spcPts val="0"/>
              </a:spcAft>
              <a:buNone/>
            </a:pPr>
            <a:endParaRPr lang="en-SG" sz="2400" dirty="0">
              <a:solidFill>
                <a:srgbClr val="373A3C"/>
              </a:solidFill>
              <a:effectLst/>
              <a:latin typeface="Arial" panose="020B0604020202020204" pitchFamily="34" charset="0"/>
              <a:ea typeface="DengXian" panose="02010600030101010101" pitchFamily="2" charset="-122"/>
              <a:cs typeface="Arial" panose="020B0604020202020204" pitchFamily="34" charset="0"/>
            </a:endParaRPr>
          </a:p>
          <a:p>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buNone/>
            </a:pPr>
            <a:endParaRPr lang="en-SG" dirty="0"/>
          </a:p>
        </p:txBody>
      </p:sp>
      <p:sp>
        <p:nvSpPr>
          <p:cNvPr id="4" name="Slide Number Placeholder 3">
            <a:extLst>
              <a:ext uri="{FF2B5EF4-FFF2-40B4-BE49-F238E27FC236}">
                <a16:creationId xmlns:a16="http://schemas.microsoft.com/office/drawing/2014/main" id="{3B394666-F61A-558B-0614-5B3D9D95671F}"/>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13</a:t>
            </a:fld>
            <a:endParaRPr lang="en-US" dirty="0"/>
          </a:p>
        </p:txBody>
      </p:sp>
      <p:pic>
        <p:nvPicPr>
          <p:cNvPr id="15" name="Picture 14">
            <a:extLst>
              <a:ext uri="{FF2B5EF4-FFF2-40B4-BE49-F238E27FC236}">
                <a16:creationId xmlns:a16="http://schemas.microsoft.com/office/drawing/2014/main" id="{A4CB3AA1-9FAC-BD10-9E4A-D51D2B1712F0}"/>
              </a:ext>
            </a:extLst>
          </p:cNvPr>
          <p:cNvPicPr>
            <a:picLocks noChangeAspect="1"/>
          </p:cNvPicPr>
          <p:nvPr/>
        </p:nvPicPr>
        <p:blipFill>
          <a:blip r:embed="rId3"/>
          <a:stretch>
            <a:fillRect/>
          </a:stretch>
        </p:blipFill>
        <p:spPr>
          <a:xfrm>
            <a:off x="5592169" y="3429000"/>
            <a:ext cx="6379568" cy="1192735"/>
          </a:xfrm>
          <a:prstGeom prst="rect">
            <a:avLst/>
          </a:prstGeom>
        </p:spPr>
      </p:pic>
      <p:pic>
        <p:nvPicPr>
          <p:cNvPr id="19" name="Picture 18">
            <a:extLst>
              <a:ext uri="{FF2B5EF4-FFF2-40B4-BE49-F238E27FC236}">
                <a16:creationId xmlns:a16="http://schemas.microsoft.com/office/drawing/2014/main" id="{7A8B2106-03A8-7738-9CE9-A43610561E4F}"/>
              </a:ext>
            </a:extLst>
          </p:cNvPr>
          <p:cNvPicPr>
            <a:picLocks noChangeAspect="1"/>
          </p:cNvPicPr>
          <p:nvPr/>
        </p:nvPicPr>
        <p:blipFill>
          <a:blip r:embed="rId4"/>
          <a:stretch>
            <a:fillRect/>
          </a:stretch>
        </p:blipFill>
        <p:spPr>
          <a:xfrm>
            <a:off x="527352" y="2865663"/>
            <a:ext cx="5111253" cy="2541546"/>
          </a:xfrm>
          <a:prstGeom prst="rect">
            <a:avLst/>
          </a:prstGeom>
        </p:spPr>
      </p:pic>
    </p:spTree>
    <p:extLst>
      <p:ext uri="{BB962C8B-B14F-4D97-AF65-F5344CB8AC3E}">
        <p14:creationId xmlns:p14="http://schemas.microsoft.com/office/powerpoint/2010/main" val="1794642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500"/>
                                        <p:tgtEl>
                                          <p:spTgt spid="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10" end="10"/>
                                            </p:txEl>
                                          </p:spTgt>
                                        </p:tgtEl>
                                        <p:attrNameLst>
                                          <p:attrName>style.visibility</p:attrName>
                                        </p:attrNameLst>
                                      </p:cBhvr>
                                      <p:to>
                                        <p:strVal val="visible"/>
                                      </p:to>
                                    </p:set>
                                    <p:animEffect transition="in" filter="fade">
                                      <p:cBhvr>
                                        <p:cTn id="22"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E280-2A37-461B-A9F8-ACF1DFFCA3EB}"/>
              </a:ext>
            </a:extLst>
          </p:cNvPr>
          <p:cNvSpPr>
            <a:spLocks noGrp="1"/>
          </p:cNvSpPr>
          <p:nvPr>
            <p:ph type="title"/>
          </p:nvPr>
        </p:nvSpPr>
        <p:spPr/>
        <p:txBody>
          <a:bodyPr>
            <a:normAutofit/>
          </a:bodyPr>
          <a:lstStyle/>
          <a:p>
            <a:r>
              <a:rPr lang="en-SG" sz="4000" b="1" dirty="0">
                <a:solidFill>
                  <a:srgbClr val="C00000"/>
                </a:solidFill>
              </a:rPr>
              <a:t>Class Inheritance</a:t>
            </a:r>
          </a:p>
        </p:txBody>
      </p:sp>
      <p:sp>
        <p:nvSpPr>
          <p:cNvPr id="5" name="Content Placeholder 4">
            <a:extLst>
              <a:ext uri="{FF2B5EF4-FFF2-40B4-BE49-F238E27FC236}">
                <a16:creationId xmlns:a16="http://schemas.microsoft.com/office/drawing/2014/main" id="{16D2EA23-1860-616C-2195-AF9368ADF8D2}"/>
              </a:ext>
            </a:extLst>
          </p:cNvPr>
          <p:cNvSpPr>
            <a:spLocks noGrp="1"/>
          </p:cNvSpPr>
          <p:nvPr>
            <p:ph idx="1"/>
          </p:nvPr>
        </p:nvSpPr>
        <p:spPr>
          <a:xfrm>
            <a:off x="527352" y="1256044"/>
            <a:ext cx="10786107" cy="5601956"/>
          </a:xfrm>
        </p:spPr>
        <p:txBody>
          <a:bodyPr>
            <a:normAutofit fontScale="92500" lnSpcReduction="10000"/>
          </a:bodyPr>
          <a:lstStyle/>
          <a:p>
            <a:pPr marL="0" indent="0">
              <a:lnSpc>
                <a:spcPct val="120000"/>
              </a:lnSpc>
              <a:spcBef>
                <a:spcPts val="600"/>
              </a:spcBef>
              <a:spcAft>
                <a:spcPts val="0"/>
              </a:spcAft>
              <a:buNone/>
            </a:pPr>
            <a:r>
              <a:rPr lang="en-SG" sz="2600" dirty="0">
                <a:solidFill>
                  <a:srgbClr val="373A3C"/>
                </a:solidFill>
                <a:latin typeface="Arial" panose="020B0604020202020204" pitchFamily="34" charset="0"/>
                <a:ea typeface="DengXian" panose="02010600030101010101" pitchFamily="2" charset="-122"/>
                <a:cs typeface="Arial" panose="020B0604020202020204" pitchFamily="34" charset="0"/>
              </a:rPr>
              <a:t>Class inheritance enables us to share/reuse code among classes that have certain commonality</a:t>
            </a:r>
          </a:p>
          <a:p>
            <a:pPr marL="0" indent="0">
              <a:lnSpc>
                <a:spcPct val="100000"/>
              </a:lnSpc>
              <a:spcBef>
                <a:spcPts val="600"/>
              </a:spcBef>
              <a:spcAft>
                <a:spcPts val="0"/>
              </a:spcAft>
              <a:buNone/>
            </a:pPr>
            <a:endParaRPr lang="en-SG" sz="1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r>
              <a:rPr lang="en-SG" sz="2600" dirty="0">
                <a:solidFill>
                  <a:srgbClr val="373A3C"/>
                </a:solidFill>
                <a:latin typeface="Arial" panose="020B0604020202020204" pitchFamily="34" charset="0"/>
                <a:ea typeface="DengXian" panose="02010600030101010101" pitchFamily="2" charset="-122"/>
                <a:cs typeface="Arial" panose="020B0604020202020204" pitchFamily="34" charset="0"/>
              </a:rPr>
              <a:t>Example: A Square class</a:t>
            </a:r>
          </a:p>
          <a:p>
            <a:pPr marL="0" indent="0">
              <a:lnSpc>
                <a:spcPct val="100000"/>
              </a:lnSpc>
              <a:spcBef>
                <a:spcPts val="600"/>
              </a:spcBef>
              <a:spcAft>
                <a:spcPts val="0"/>
              </a:spcAft>
              <a:buNone/>
            </a:pPr>
            <a:endParaRPr lang="en-SG" sz="2600" dirty="0">
              <a:solidFill>
                <a:srgbClr val="373A3C"/>
              </a:solidFill>
              <a:effectLst/>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endParaRPr lang="en-SG" sz="26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endParaRPr lang="en-SG" sz="2600" dirty="0">
              <a:solidFill>
                <a:srgbClr val="373A3C"/>
              </a:solidFill>
              <a:effectLst/>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endParaRPr lang="en-SG" sz="26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endParaRPr lang="en-SG" sz="2600" dirty="0">
              <a:solidFill>
                <a:srgbClr val="373A3C"/>
              </a:solidFill>
              <a:effectLst/>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endParaRPr lang="en-SG" sz="26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lnSpc>
                <a:spcPct val="100000"/>
              </a:lnSpc>
              <a:spcBef>
                <a:spcPts val="600"/>
              </a:spcBef>
              <a:spcAft>
                <a:spcPts val="0"/>
              </a:spcAft>
              <a:buNone/>
            </a:pPr>
            <a:endParaRPr lang="en-SG" sz="1300" dirty="0">
              <a:solidFill>
                <a:srgbClr val="373A3C"/>
              </a:solidFill>
              <a:effectLst/>
              <a:latin typeface="Arial" panose="020B0604020202020204" pitchFamily="34" charset="0"/>
              <a:ea typeface="DengXian" panose="02010600030101010101" pitchFamily="2" charset="-122"/>
              <a:cs typeface="Arial" panose="020B0604020202020204" pitchFamily="34" charset="0"/>
            </a:endParaRPr>
          </a:p>
          <a:p>
            <a:pPr marL="0" indent="0">
              <a:lnSpc>
                <a:spcPct val="120000"/>
              </a:lnSpc>
              <a:spcBef>
                <a:spcPts val="600"/>
              </a:spcBef>
              <a:spcAft>
                <a:spcPts val="0"/>
              </a:spcAft>
              <a:buNone/>
            </a:pPr>
            <a:r>
              <a:rPr lang="en-SG" sz="2600" dirty="0">
                <a:solidFill>
                  <a:srgbClr val="373A3C"/>
                </a:solidFill>
                <a:latin typeface="Arial" panose="020B0604020202020204" pitchFamily="34" charset="0"/>
                <a:ea typeface="DengXian" panose="02010600030101010101" pitchFamily="2" charset="-122"/>
                <a:cs typeface="Arial" panose="020B0604020202020204" pitchFamily="34" charset="0"/>
              </a:rPr>
              <a:t>Calculations used by the Square class are similar to the Rectangle class</a:t>
            </a:r>
          </a:p>
          <a:p>
            <a:pPr marL="355600" indent="-355600">
              <a:lnSpc>
                <a:spcPct val="120000"/>
              </a:lnSpc>
              <a:spcBef>
                <a:spcPts val="600"/>
              </a:spcBef>
              <a:spcAft>
                <a:spcPts val="0"/>
              </a:spcAft>
            </a:pPr>
            <a:r>
              <a:rPr lang="en-SG" sz="2600" dirty="0">
                <a:solidFill>
                  <a:srgbClr val="373A3C"/>
                </a:solidFill>
                <a:latin typeface="Arial" panose="020B0604020202020204" pitchFamily="34" charset="0"/>
                <a:ea typeface="DengXian" panose="02010600030101010101" pitchFamily="2" charset="-122"/>
                <a:cs typeface="Arial" panose="020B0604020202020204" pitchFamily="34" charset="0"/>
              </a:rPr>
              <a:t>with width = length for the Square class</a:t>
            </a:r>
            <a:endParaRPr lang="en-SG" sz="2400" dirty="0">
              <a:solidFill>
                <a:srgbClr val="373A3C"/>
              </a:solidFill>
              <a:effectLst/>
              <a:latin typeface="Arial" panose="020B0604020202020204" pitchFamily="34" charset="0"/>
              <a:ea typeface="DengXian" panose="02010600030101010101" pitchFamily="2" charset="-122"/>
              <a:cs typeface="Arial" panose="020B0604020202020204" pitchFamily="34" charset="0"/>
            </a:endParaRPr>
          </a:p>
          <a:p>
            <a:endPar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endParaRPr>
          </a:p>
          <a:p>
            <a:pPr marL="0" indent="0">
              <a:buNone/>
            </a:pPr>
            <a:endParaRPr lang="en-SG" dirty="0"/>
          </a:p>
        </p:txBody>
      </p:sp>
      <p:sp>
        <p:nvSpPr>
          <p:cNvPr id="4" name="Slide Number Placeholder 3">
            <a:extLst>
              <a:ext uri="{FF2B5EF4-FFF2-40B4-BE49-F238E27FC236}">
                <a16:creationId xmlns:a16="http://schemas.microsoft.com/office/drawing/2014/main" id="{F8D19DFC-AC32-01B5-83E0-D60A416FDDD8}"/>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14</a:t>
            </a:fld>
            <a:endParaRPr lang="en-US" dirty="0"/>
          </a:p>
        </p:txBody>
      </p:sp>
      <p:pic>
        <p:nvPicPr>
          <p:cNvPr id="19" name="Picture 18">
            <a:extLst>
              <a:ext uri="{FF2B5EF4-FFF2-40B4-BE49-F238E27FC236}">
                <a16:creationId xmlns:a16="http://schemas.microsoft.com/office/drawing/2014/main" id="{733E255D-A03B-146E-91FA-C292A237D9E4}"/>
              </a:ext>
            </a:extLst>
          </p:cNvPr>
          <p:cNvPicPr>
            <a:picLocks noChangeAspect="1"/>
          </p:cNvPicPr>
          <p:nvPr/>
        </p:nvPicPr>
        <p:blipFill>
          <a:blip r:embed="rId3"/>
          <a:stretch>
            <a:fillRect/>
          </a:stretch>
        </p:blipFill>
        <p:spPr>
          <a:xfrm>
            <a:off x="5533552" y="2813143"/>
            <a:ext cx="5111253" cy="2541546"/>
          </a:xfrm>
          <a:prstGeom prst="rect">
            <a:avLst/>
          </a:prstGeom>
        </p:spPr>
      </p:pic>
      <p:pic>
        <p:nvPicPr>
          <p:cNvPr id="21" name="Picture 20">
            <a:extLst>
              <a:ext uri="{FF2B5EF4-FFF2-40B4-BE49-F238E27FC236}">
                <a16:creationId xmlns:a16="http://schemas.microsoft.com/office/drawing/2014/main" id="{46D7A408-5308-38C9-9155-D290F15741E4}"/>
              </a:ext>
            </a:extLst>
          </p:cNvPr>
          <p:cNvPicPr>
            <a:picLocks noChangeAspect="1"/>
          </p:cNvPicPr>
          <p:nvPr/>
        </p:nvPicPr>
        <p:blipFill>
          <a:blip r:embed="rId4"/>
          <a:stretch>
            <a:fillRect/>
          </a:stretch>
        </p:blipFill>
        <p:spPr>
          <a:xfrm>
            <a:off x="527352" y="2979547"/>
            <a:ext cx="4878062" cy="2375142"/>
          </a:xfrm>
          <a:prstGeom prst="rect">
            <a:avLst/>
          </a:prstGeom>
        </p:spPr>
      </p:pic>
    </p:spTree>
    <p:extLst>
      <p:ext uri="{BB962C8B-B14F-4D97-AF65-F5344CB8AC3E}">
        <p14:creationId xmlns:p14="http://schemas.microsoft.com/office/powerpoint/2010/main" val="934188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10" end="10"/>
                                            </p:txEl>
                                          </p:spTgt>
                                        </p:tgtEl>
                                        <p:attrNameLst>
                                          <p:attrName>style.visibility</p:attrName>
                                        </p:attrNameLst>
                                      </p:cBhvr>
                                      <p:to>
                                        <p:strVal val="visible"/>
                                      </p:to>
                                    </p:set>
                                    <p:animEffect transition="in" filter="fade">
                                      <p:cBhvr>
                                        <p:cTn id="22" dur="500"/>
                                        <p:tgtEl>
                                          <p:spTgt spid="5">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11" end="11"/>
                                            </p:txEl>
                                          </p:spTgt>
                                        </p:tgtEl>
                                        <p:attrNameLst>
                                          <p:attrName>style.visibility</p:attrName>
                                        </p:attrNameLst>
                                      </p:cBhvr>
                                      <p:to>
                                        <p:strVal val="visible"/>
                                      </p:to>
                                    </p:set>
                                    <p:animEffect transition="in" filter="fade">
                                      <p:cBhvr>
                                        <p:cTn id="32" dur="500"/>
                                        <p:tgtEl>
                                          <p:spTgt spid="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E280-2A37-461B-A9F8-ACF1DFFCA3EB}"/>
              </a:ext>
            </a:extLst>
          </p:cNvPr>
          <p:cNvSpPr>
            <a:spLocks noGrp="1"/>
          </p:cNvSpPr>
          <p:nvPr>
            <p:ph type="title"/>
          </p:nvPr>
        </p:nvSpPr>
        <p:spPr/>
        <p:txBody>
          <a:bodyPr>
            <a:normAutofit/>
          </a:bodyPr>
          <a:lstStyle/>
          <a:p>
            <a:r>
              <a:rPr lang="en-SG" sz="4000" b="1" dirty="0">
                <a:solidFill>
                  <a:srgbClr val="C00000"/>
                </a:solidFill>
              </a:rPr>
              <a:t>Class Inheritance – Superclass</a:t>
            </a:r>
          </a:p>
        </p:txBody>
      </p:sp>
      <p:sp>
        <p:nvSpPr>
          <p:cNvPr id="5" name="Content Placeholder 4">
            <a:extLst>
              <a:ext uri="{FF2B5EF4-FFF2-40B4-BE49-F238E27FC236}">
                <a16:creationId xmlns:a16="http://schemas.microsoft.com/office/drawing/2014/main" id="{16D2EA23-1860-616C-2195-AF9368ADF8D2}"/>
              </a:ext>
            </a:extLst>
          </p:cNvPr>
          <p:cNvSpPr>
            <a:spLocks noGrp="1"/>
          </p:cNvSpPr>
          <p:nvPr>
            <p:ph idx="1"/>
          </p:nvPr>
        </p:nvSpPr>
        <p:spPr/>
        <p:txBody>
          <a:bodyPr>
            <a:normAutofit/>
          </a:bodyPr>
          <a:lstStyle/>
          <a:p>
            <a:pPr marL="0" indent="0">
              <a:lnSpc>
                <a:spcPct val="100000"/>
              </a:lnSpc>
              <a:spcBef>
                <a:spcPts val="600"/>
              </a:spcBef>
              <a:spcAft>
                <a:spcPts val="0"/>
              </a:spcAft>
              <a:buNone/>
            </a:pP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The Square class can use the code of Rectangle class by inheriting the properties of the </a:t>
            </a:r>
            <a:r>
              <a:rPr lang="en-SG" sz="2400" dirty="0">
                <a:solidFill>
                  <a:srgbClr val="C00000"/>
                </a:solidFill>
                <a:latin typeface="Arial" panose="020B0604020202020204" pitchFamily="34" charset="0"/>
                <a:ea typeface="DengXian" panose="02010600030101010101" pitchFamily="2" charset="-122"/>
                <a:cs typeface="Arial" panose="020B0604020202020204" pitchFamily="34" charset="0"/>
              </a:rPr>
              <a:t>Rectangle class</a:t>
            </a: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 - known as the </a:t>
            </a:r>
            <a:r>
              <a:rPr lang="en-SG" sz="2400" dirty="0">
                <a:solidFill>
                  <a:srgbClr val="C00000"/>
                </a:solidFill>
                <a:latin typeface="Arial" panose="020B0604020202020204" pitchFamily="34" charset="0"/>
                <a:ea typeface="DengXian" panose="02010600030101010101" pitchFamily="2" charset="-122"/>
                <a:cs typeface="Arial" panose="020B0604020202020204" pitchFamily="34" charset="0"/>
              </a:rPr>
              <a:t>Superclass</a:t>
            </a: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 </a:t>
            </a:r>
          </a:p>
          <a:p>
            <a:pPr>
              <a:lnSpc>
                <a:spcPct val="100000"/>
              </a:lnSpc>
              <a:spcBef>
                <a:spcPts val="600"/>
              </a:spcBef>
              <a:spcAft>
                <a:spcPts val="0"/>
              </a:spcAft>
            </a:pP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using the keyword </a:t>
            </a:r>
            <a:r>
              <a:rPr lang="en-SG" sz="2400" b="1" dirty="0">
                <a:solidFill>
                  <a:srgbClr val="00B050"/>
                </a:solidFill>
                <a:latin typeface="Courier New" panose="02070309020205020404" pitchFamily="49" charset="0"/>
                <a:ea typeface="DengXian" panose="02010600030101010101" pitchFamily="2" charset="-122"/>
                <a:cs typeface="Courier New" panose="02070309020205020404" pitchFamily="49" charset="0"/>
              </a:rPr>
              <a:t>super</a:t>
            </a:r>
          </a:p>
          <a:p>
            <a:endParaRPr lang="en-SG" sz="2400" b="1" dirty="0">
              <a:solidFill>
                <a:srgbClr val="00B050"/>
              </a:solidFill>
              <a:latin typeface="Courier New" panose="02070309020205020404" pitchFamily="49" charset="0"/>
              <a:ea typeface="DengXian" panose="02010600030101010101" pitchFamily="2" charset="-122"/>
              <a:cs typeface="Courier New" panose="02070309020205020404" pitchFamily="49" charset="0"/>
            </a:endParaRPr>
          </a:p>
          <a:p>
            <a:endParaRPr lang="en-SG" sz="2400" b="1" dirty="0">
              <a:solidFill>
                <a:srgbClr val="00B050"/>
              </a:solidFill>
              <a:latin typeface="Courier New" panose="02070309020205020404" pitchFamily="49" charset="0"/>
              <a:ea typeface="DengXian" panose="02010600030101010101" pitchFamily="2" charset="-122"/>
              <a:cs typeface="Courier New" panose="02070309020205020404" pitchFamily="49" charset="0"/>
            </a:endParaRPr>
          </a:p>
          <a:p>
            <a:endParaRPr lang="en-SG" sz="2400" b="1" dirty="0">
              <a:solidFill>
                <a:srgbClr val="00B050"/>
              </a:solidFill>
              <a:latin typeface="Courier New" panose="02070309020205020404" pitchFamily="49" charset="0"/>
              <a:ea typeface="DengXian" panose="02010600030101010101" pitchFamily="2" charset="-122"/>
              <a:cs typeface="Courier New" panose="02070309020205020404" pitchFamily="49" charset="0"/>
            </a:endParaRPr>
          </a:p>
          <a:p>
            <a:endParaRPr lang="en-SG" sz="2400" b="1" dirty="0">
              <a:solidFill>
                <a:srgbClr val="00B050"/>
              </a:solidFill>
              <a:latin typeface="Courier New" panose="02070309020205020404" pitchFamily="49" charset="0"/>
              <a:ea typeface="DengXian" panose="02010600030101010101" pitchFamily="2" charset="-122"/>
              <a:cs typeface="Courier New" panose="02070309020205020404" pitchFamily="49" charset="0"/>
            </a:endParaRPr>
          </a:p>
          <a:p>
            <a:endParaRPr lang="en-SG" sz="2400" b="1" dirty="0">
              <a:solidFill>
                <a:srgbClr val="00B050"/>
              </a:solidFill>
              <a:latin typeface="Courier New" panose="02070309020205020404" pitchFamily="49" charset="0"/>
              <a:ea typeface="DengXian" panose="02010600030101010101" pitchFamily="2" charset="-122"/>
              <a:cs typeface="Courier New" panose="02070309020205020404" pitchFamily="49" charset="0"/>
            </a:endParaRPr>
          </a:p>
          <a:p>
            <a:pPr marL="0" indent="0">
              <a:lnSpc>
                <a:spcPct val="100000"/>
              </a:lnSpc>
              <a:spcBef>
                <a:spcPts val="600"/>
              </a:spcBef>
              <a:spcAft>
                <a:spcPts val="0"/>
              </a:spcAft>
              <a:buNone/>
            </a:pP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Inheritance hence </a:t>
            </a:r>
            <a:r>
              <a:rPr lang="en-SG" sz="2400" dirty="0">
                <a:latin typeface="Arial" panose="020B0604020202020204" pitchFamily="34" charset="0"/>
                <a:cs typeface="Arial" panose="020B0604020202020204" pitchFamily="34" charset="0"/>
              </a:rPr>
              <a:t>allows the Square class (known as the </a:t>
            </a:r>
            <a:r>
              <a:rPr lang="en-SG" sz="2400" dirty="0">
                <a:solidFill>
                  <a:srgbClr val="C00000"/>
                </a:solidFill>
                <a:latin typeface="Arial" panose="020B0604020202020204" pitchFamily="34" charset="0"/>
                <a:cs typeface="Arial" panose="020B0604020202020204" pitchFamily="34" charset="0"/>
              </a:rPr>
              <a:t>Subclass</a:t>
            </a:r>
            <a:r>
              <a:rPr lang="en-SG" sz="2400" dirty="0">
                <a:latin typeface="Arial" panose="020B0604020202020204" pitchFamily="34" charset="0"/>
                <a:cs typeface="Arial" panose="020B0604020202020204" pitchFamily="34" charset="0"/>
              </a:rPr>
              <a:t>) to acquire the properties of the Rectangle </a:t>
            </a:r>
            <a:r>
              <a:rPr lang="en-SG" sz="2400" dirty="0">
                <a:solidFill>
                  <a:srgbClr val="C00000"/>
                </a:solidFill>
                <a:latin typeface="Arial" panose="020B0604020202020204" pitchFamily="34" charset="0"/>
                <a:cs typeface="Arial" panose="020B0604020202020204" pitchFamily="34" charset="0"/>
              </a:rPr>
              <a:t>Superclass</a:t>
            </a:r>
            <a:endParaRPr lang="en-SG" sz="2400" dirty="0">
              <a:solidFill>
                <a:srgbClr val="C00000"/>
              </a:solidFill>
              <a:latin typeface="Arial" panose="020B0604020202020204" pitchFamily="34" charset="0"/>
              <a:ea typeface="DengXian" panose="02010600030101010101" pitchFamily="2" charset="-122"/>
              <a:cs typeface="Arial" panose="020B0604020202020204" pitchFamily="34" charset="0"/>
            </a:endParaRPr>
          </a:p>
          <a:p>
            <a:pPr marL="0" indent="0">
              <a:buNone/>
            </a:pPr>
            <a:endParaRPr lang="en-SG" dirty="0">
              <a:solidFill>
                <a:srgbClr val="373A3C"/>
              </a:solidFill>
              <a:latin typeface="Arial" panose="020B0604020202020204" pitchFamily="34" charset="0"/>
              <a:ea typeface="DengXian" panose="02010600030101010101" pitchFamily="2" charset="-122"/>
              <a:cs typeface="Arial" panose="020B0604020202020204" pitchFamily="34" charset="0"/>
            </a:endParaRPr>
          </a:p>
          <a:p>
            <a:endParaRPr lang="en-SG" dirty="0"/>
          </a:p>
        </p:txBody>
      </p:sp>
      <p:sp>
        <p:nvSpPr>
          <p:cNvPr id="4" name="Slide Number Placeholder 3">
            <a:extLst>
              <a:ext uri="{FF2B5EF4-FFF2-40B4-BE49-F238E27FC236}">
                <a16:creationId xmlns:a16="http://schemas.microsoft.com/office/drawing/2014/main" id="{F8D19DFC-AC32-01B5-83E0-D60A416FDDD8}"/>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15</a:t>
            </a:fld>
            <a:endParaRPr lang="en-US" dirty="0"/>
          </a:p>
        </p:txBody>
      </p:sp>
      <p:pic>
        <p:nvPicPr>
          <p:cNvPr id="9" name="Picture 8">
            <a:extLst>
              <a:ext uri="{FF2B5EF4-FFF2-40B4-BE49-F238E27FC236}">
                <a16:creationId xmlns:a16="http://schemas.microsoft.com/office/drawing/2014/main" id="{6C853A22-9DDB-7FE1-C1FA-FED1B2E24203}"/>
              </a:ext>
            </a:extLst>
          </p:cNvPr>
          <p:cNvPicPr>
            <a:picLocks noChangeAspect="1"/>
          </p:cNvPicPr>
          <p:nvPr/>
        </p:nvPicPr>
        <p:blipFill>
          <a:blip r:embed="rId3"/>
          <a:stretch>
            <a:fillRect/>
          </a:stretch>
        </p:blipFill>
        <p:spPr>
          <a:xfrm>
            <a:off x="5382186" y="2679894"/>
            <a:ext cx="6732396" cy="968204"/>
          </a:xfrm>
          <a:prstGeom prst="rect">
            <a:avLst/>
          </a:prstGeom>
        </p:spPr>
      </p:pic>
      <p:pic>
        <p:nvPicPr>
          <p:cNvPr id="12" name="Picture 11">
            <a:extLst>
              <a:ext uri="{FF2B5EF4-FFF2-40B4-BE49-F238E27FC236}">
                <a16:creationId xmlns:a16="http://schemas.microsoft.com/office/drawing/2014/main" id="{59A93436-2EE8-F8AA-E68A-96C431B841E7}"/>
              </a:ext>
            </a:extLst>
          </p:cNvPr>
          <p:cNvPicPr>
            <a:picLocks noChangeAspect="1"/>
          </p:cNvPicPr>
          <p:nvPr/>
        </p:nvPicPr>
        <p:blipFill>
          <a:blip r:embed="rId4"/>
          <a:stretch>
            <a:fillRect/>
          </a:stretch>
        </p:blipFill>
        <p:spPr>
          <a:xfrm>
            <a:off x="5285394" y="3960836"/>
            <a:ext cx="6455818" cy="842775"/>
          </a:xfrm>
          <a:prstGeom prst="rect">
            <a:avLst/>
          </a:prstGeom>
        </p:spPr>
      </p:pic>
      <p:pic>
        <p:nvPicPr>
          <p:cNvPr id="13" name="Picture 12">
            <a:extLst>
              <a:ext uri="{FF2B5EF4-FFF2-40B4-BE49-F238E27FC236}">
                <a16:creationId xmlns:a16="http://schemas.microsoft.com/office/drawing/2014/main" id="{5197FF2A-2E40-FB6B-8BC0-5CCB42548206}"/>
              </a:ext>
            </a:extLst>
          </p:cNvPr>
          <p:cNvPicPr>
            <a:picLocks noChangeAspect="1"/>
          </p:cNvPicPr>
          <p:nvPr/>
        </p:nvPicPr>
        <p:blipFill>
          <a:blip r:embed="rId5"/>
          <a:stretch>
            <a:fillRect/>
          </a:stretch>
        </p:blipFill>
        <p:spPr>
          <a:xfrm>
            <a:off x="174141" y="2605988"/>
            <a:ext cx="5111253" cy="2541546"/>
          </a:xfrm>
          <a:prstGeom prst="rect">
            <a:avLst/>
          </a:prstGeom>
        </p:spPr>
      </p:pic>
    </p:spTree>
    <p:extLst>
      <p:ext uri="{BB962C8B-B14F-4D97-AF65-F5344CB8AC3E}">
        <p14:creationId xmlns:p14="http://schemas.microsoft.com/office/powerpoint/2010/main" val="3052412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E280-2A37-461B-A9F8-ACF1DFFCA3EB}"/>
              </a:ext>
            </a:extLst>
          </p:cNvPr>
          <p:cNvSpPr>
            <a:spLocks noGrp="1"/>
          </p:cNvSpPr>
          <p:nvPr>
            <p:ph type="title"/>
          </p:nvPr>
        </p:nvSpPr>
        <p:spPr/>
        <p:txBody>
          <a:bodyPr>
            <a:normAutofit/>
          </a:bodyPr>
          <a:lstStyle/>
          <a:p>
            <a:r>
              <a:rPr lang="en-SG" sz="4000" b="1" dirty="0">
                <a:solidFill>
                  <a:srgbClr val="C00000"/>
                </a:solidFill>
              </a:rPr>
              <a:t>Class Inheritance – Subclass</a:t>
            </a:r>
          </a:p>
        </p:txBody>
      </p:sp>
      <p:sp>
        <p:nvSpPr>
          <p:cNvPr id="5" name="Content Placeholder 4">
            <a:extLst>
              <a:ext uri="{FF2B5EF4-FFF2-40B4-BE49-F238E27FC236}">
                <a16:creationId xmlns:a16="http://schemas.microsoft.com/office/drawing/2014/main" id="{16D2EA23-1860-616C-2195-AF9368ADF8D2}"/>
              </a:ext>
            </a:extLst>
          </p:cNvPr>
          <p:cNvSpPr>
            <a:spLocks noGrp="1"/>
          </p:cNvSpPr>
          <p:nvPr>
            <p:ph idx="1"/>
          </p:nvPr>
        </p:nvSpPr>
        <p:spPr/>
        <p:txBody>
          <a:bodyPr>
            <a:normAutofit/>
          </a:bodyPr>
          <a:lstStyle/>
          <a:p>
            <a:pPr marL="0" indent="0">
              <a:buNone/>
            </a:pP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Inheritance can be further extended to another class from the Subclass</a:t>
            </a:r>
          </a:p>
        </p:txBody>
      </p:sp>
      <p:sp>
        <p:nvSpPr>
          <p:cNvPr id="4" name="Slide Number Placeholder 3">
            <a:extLst>
              <a:ext uri="{FF2B5EF4-FFF2-40B4-BE49-F238E27FC236}">
                <a16:creationId xmlns:a16="http://schemas.microsoft.com/office/drawing/2014/main" id="{F8D19DFC-AC32-01B5-83E0-D60A416FDDD8}"/>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16</a:t>
            </a:fld>
            <a:endParaRPr lang="en-US" dirty="0"/>
          </a:p>
        </p:txBody>
      </p:sp>
      <p:pic>
        <p:nvPicPr>
          <p:cNvPr id="9" name="Picture 8">
            <a:extLst>
              <a:ext uri="{FF2B5EF4-FFF2-40B4-BE49-F238E27FC236}">
                <a16:creationId xmlns:a16="http://schemas.microsoft.com/office/drawing/2014/main" id="{6C853A22-9DDB-7FE1-C1FA-FED1B2E24203}"/>
              </a:ext>
            </a:extLst>
          </p:cNvPr>
          <p:cNvPicPr>
            <a:picLocks noChangeAspect="1"/>
          </p:cNvPicPr>
          <p:nvPr/>
        </p:nvPicPr>
        <p:blipFill>
          <a:blip r:embed="rId3"/>
          <a:stretch>
            <a:fillRect/>
          </a:stretch>
        </p:blipFill>
        <p:spPr>
          <a:xfrm>
            <a:off x="2091935" y="1716313"/>
            <a:ext cx="6732396" cy="968204"/>
          </a:xfrm>
          <a:prstGeom prst="rect">
            <a:avLst/>
          </a:prstGeom>
        </p:spPr>
      </p:pic>
      <p:pic>
        <p:nvPicPr>
          <p:cNvPr id="8" name="Picture 7">
            <a:extLst>
              <a:ext uri="{FF2B5EF4-FFF2-40B4-BE49-F238E27FC236}">
                <a16:creationId xmlns:a16="http://schemas.microsoft.com/office/drawing/2014/main" id="{C2499C69-C9AF-A1F5-4503-64E5A1D7B7DC}"/>
              </a:ext>
            </a:extLst>
          </p:cNvPr>
          <p:cNvPicPr>
            <a:picLocks noChangeAspect="1"/>
          </p:cNvPicPr>
          <p:nvPr/>
        </p:nvPicPr>
        <p:blipFill>
          <a:blip r:embed="rId4"/>
          <a:stretch>
            <a:fillRect/>
          </a:stretch>
        </p:blipFill>
        <p:spPr>
          <a:xfrm>
            <a:off x="6174496" y="2922447"/>
            <a:ext cx="5055591" cy="2397748"/>
          </a:xfrm>
          <a:prstGeom prst="rect">
            <a:avLst/>
          </a:prstGeom>
        </p:spPr>
      </p:pic>
      <p:pic>
        <p:nvPicPr>
          <p:cNvPr id="11" name="Picture 10">
            <a:extLst>
              <a:ext uri="{FF2B5EF4-FFF2-40B4-BE49-F238E27FC236}">
                <a16:creationId xmlns:a16="http://schemas.microsoft.com/office/drawing/2014/main" id="{AFC9DF6D-159E-0389-7A12-59F779FD283C}"/>
              </a:ext>
            </a:extLst>
          </p:cNvPr>
          <p:cNvPicPr>
            <a:picLocks noChangeAspect="1"/>
          </p:cNvPicPr>
          <p:nvPr/>
        </p:nvPicPr>
        <p:blipFill>
          <a:blip r:embed="rId5"/>
          <a:stretch>
            <a:fillRect/>
          </a:stretch>
        </p:blipFill>
        <p:spPr>
          <a:xfrm>
            <a:off x="4107538" y="5264564"/>
            <a:ext cx="6340145" cy="1345544"/>
          </a:xfrm>
          <a:prstGeom prst="rect">
            <a:avLst/>
          </a:prstGeom>
        </p:spPr>
      </p:pic>
      <p:pic>
        <p:nvPicPr>
          <p:cNvPr id="7" name="Picture 6">
            <a:extLst>
              <a:ext uri="{FF2B5EF4-FFF2-40B4-BE49-F238E27FC236}">
                <a16:creationId xmlns:a16="http://schemas.microsoft.com/office/drawing/2014/main" id="{75EB55FC-B84C-260C-C70F-18D4DA888CE4}"/>
              </a:ext>
            </a:extLst>
          </p:cNvPr>
          <p:cNvPicPr>
            <a:picLocks noChangeAspect="1"/>
          </p:cNvPicPr>
          <p:nvPr/>
        </p:nvPicPr>
        <p:blipFill>
          <a:blip r:embed="rId6"/>
          <a:stretch>
            <a:fillRect/>
          </a:stretch>
        </p:blipFill>
        <p:spPr>
          <a:xfrm>
            <a:off x="12192" y="2885484"/>
            <a:ext cx="6096000" cy="2486698"/>
          </a:xfrm>
          <a:prstGeom prst="rect">
            <a:avLst/>
          </a:prstGeom>
        </p:spPr>
      </p:pic>
    </p:spTree>
    <p:extLst>
      <p:ext uri="{BB962C8B-B14F-4D97-AF65-F5344CB8AC3E}">
        <p14:creationId xmlns:p14="http://schemas.microsoft.com/office/powerpoint/2010/main" val="669359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64411-77B6-96EE-C878-CCC994794E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9FE59-C44F-0FBD-C1AE-DA0F4F9114DE}"/>
              </a:ext>
            </a:extLst>
          </p:cNvPr>
          <p:cNvSpPr>
            <a:spLocks noGrp="1"/>
          </p:cNvSpPr>
          <p:nvPr>
            <p:ph type="title"/>
          </p:nvPr>
        </p:nvSpPr>
        <p:spPr/>
        <p:txBody>
          <a:bodyPr>
            <a:normAutofit/>
          </a:bodyPr>
          <a:lstStyle/>
          <a:p>
            <a:r>
              <a:rPr lang="en-SG" sz="4000" b="1" dirty="0">
                <a:solidFill>
                  <a:srgbClr val="C00000"/>
                </a:solidFill>
              </a:rPr>
              <a:t>Summary</a:t>
            </a:r>
          </a:p>
        </p:txBody>
      </p:sp>
      <p:sp>
        <p:nvSpPr>
          <p:cNvPr id="5" name="Content Placeholder 4">
            <a:extLst>
              <a:ext uri="{FF2B5EF4-FFF2-40B4-BE49-F238E27FC236}">
                <a16:creationId xmlns:a16="http://schemas.microsoft.com/office/drawing/2014/main" id="{83FB38D1-638B-F2F2-27B7-C728CEE02527}"/>
              </a:ext>
            </a:extLst>
          </p:cNvPr>
          <p:cNvSpPr>
            <a:spLocks noGrp="1"/>
          </p:cNvSpPr>
          <p:nvPr>
            <p:ph idx="1"/>
          </p:nvPr>
        </p:nvSpPr>
        <p:spPr/>
        <p:txBody>
          <a:bodyPr>
            <a:noAutofit/>
          </a:bodyPr>
          <a:lstStyle/>
          <a:p>
            <a:pPr marL="355600" indent="-355600">
              <a:lnSpc>
                <a:spcPct val="100000"/>
              </a:lnSpc>
              <a:spcBef>
                <a:spcPts val="600"/>
              </a:spcBef>
            </a:pPr>
            <a:r>
              <a:rPr lang="en-SG" sz="2400" dirty="0">
                <a:latin typeface="Arial" panose="020B0604020202020204" pitchFamily="34" charset="0"/>
                <a:cs typeface="Arial" panose="020B0604020202020204" pitchFamily="34" charset="0"/>
              </a:rPr>
              <a:t>Class provides a blueprint to create objects known as instances of the class</a:t>
            </a:r>
          </a:p>
          <a:p>
            <a:pPr marL="355600" indent="-355600">
              <a:lnSpc>
                <a:spcPct val="100000"/>
              </a:lnSpc>
              <a:spcBef>
                <a:spcPts val="600"/>
              </a:spcBef>
            </a:pPr>
            <a:r>
              <a:rPr lang="en-SG" sz="2400" dirty="0">
                <a:latin typeface="Arial" panose="020B0604020202020204" pitchFamily="34" charset="0"/>
                <a:cs typeface="Arial" panose="020B0604020202020204" pitchFamily="34" charset="0"/>
              </a:rPr>
              <a:t>Instance attributes are the variables used by the instances</a:t>
            </a:r>
          </a:p>
          <a:p>
            <a:pPr marL="355600" indent="-355600">
              <a:lnSpc>
                <a:spcPct val="100000"/>
              </a:lnSpc>
              <a:spcBef>
                <a:spcPts val="600"/>
              </a:spcBef>
            </a:pPr>
            <a:r>
              <a:rPr lang="en-SG" sz="2400" dirty="0">
                <a:latin typeface="Arial" panose="020B0604020202020204" pitchFamily="34" charset="0"/>
                <a:cs typeface="Arial" panose="020B0604020202020204" pitchFamily="34" charset="0"/>
              </a:rPr>
              <a:t>Class attributes are attributes common to all instances</a:t>
            </a:r>
          </a:p>
          <a:p>
            <a:pPr marL="355600" indent="-355600">
              <a:lnSpc>
                <a:spcPct val="100000"/>
              </a:lnSpc>
              <a:spcBef>
                <a:spcPts val="600"/>
              </a:spcBef>
            </a:pPr>
            <a:r>
              <a:rPr lang="en-SG" sz="2400" dirty="0">
                <a:latin typeface="Arial" panose="020B0604020202020204" pitchFamily="34" charset="0"/>
                <a:cs typeface="Arial" panose="020B0604020202020204" pitchFamily="34" charset="0"/>
              </a:rPr>
              <a:t>The function define within a class is known as method</a:t>
            </a:r>
          </a:p>
          <a:p>
            <a:pPr marL="355600" indent="-355600">
              <a:lnSpc>
                <a:spcPct val="100000"/>
              </a:lnSpc>
              <a:spcBef>
                <a:spcPts val="600"/>
              </a:spcBef>
            </a:pPr>
            <a:r>
              <a:rPr lang="en-SG" sz="2400" dirty="0">
                <a:latin typeface="Arial" panose="020B0604020202020204" pitchFamily="34" charset="0"/>
                <a:cs typeface="Arial" panose="020B0604020202020204" pitchFamily="34" charset="0"/>
              </a:rPr>
              <a:t>Private attributes are attributes that are intended for internal use within the class (accessible through its method)</a:t>
            </a:r>
          </a:p>
          <a:p>
            <a:pPr marL="355600" indent="-355600">
              <a:lnSpc>
                <a:spcPct val="100000"/>
              </a:lnSpc>
              <a:spcBef>
                <a:spcPts val="600"/>
              </a:spcBef>
            </a:pPr>
            <a:r>
              <a:rPr lang="en-SG" sz="2400" dirty="0">
                <a:latin typeface="Arial" panose="020B0604020202020204" pitchFamily="34" charset="0"/>
                <a:cs typeface="Arial" panose="020B0604020202020204" pitchFamily="34" charset="0"/>
              </a:rPr>
              <a:t>Class Abstraction allows you to focus on its interface (and hide its internal) </a:t>
            </a:r>
          </a:p>
          <a:p>
            <a:pPr marL="355600" indent="-355600">
              <a:lnSpc>
                <a:spcPct val="100000"/>
              </a:lnSpc>
              <a:spcBef>
                <a:spcPts val="600"/>
              </a:spcBef>
              <a:spcAft>
                <a:spcPts val="0"/>
              </a:spcAft>
            </a:pPr>
            <a:r>
              <a:rPr lang="en-SG" sz="2400" dirty="0">
                <a:latin typeface="Arial" panose="020B0604020202020204" pitchFamily="34" charset="0"/>
                <a:cs typeface="Arial" panose="020B0604020202020204" pitchFamily="34" charset="0"/>
              </a:rPr>
              <a:t>Class inheritance allows a class, the Superclass, to provide a blueprint for common </a:t>
            </a:r>
            <a:r>
              <a:rPr lang="en-SG" sz="2400" dirty="0" err="1">
                <a:latin typeface="Arial" panose="020B0604020202020204" pitchFamily="34" charset="0"/>
                <a:cs typeface="Arial" panose="020B0604020202020204" pitchFamily="34" charset="0"/>
              </a:rPr>
              <a:t>behavior</a:t>
            </a:r>
            <a:r>
              <a:rPr lang="en-SG" sz="2400" dirty="0">
                <a:latin typeface="Arial" panose="020B0604020202020204" pitchFamily="34" charset="0"/>
                <a:cs typeface="Arial" panose="020B0604020202020204" pitchFamily="34" charset="0"/>
              </a:rPr>
              <a:t> that can be shared among other classes known as the subclasses</a:t>
            </a:r>
          </a:p>
          <a:p>
            <a:pPr marL="355600" indent="-355600">
              <a:lnSpc>
                <a:spcPct val="100000"/>
              </a:lnSpc>
              <a:spcBef>
                <a:spcPts val="600"/>
              </a:spcBef>
            </a:pPr>
            <a:r>
              <a:rPr lang="en-SG" sz="2400" dirty="0">
                <a:solidFill>
                  <a:srgbClr val="373A3C"/>
                </a:solidFill>
                <a:latin typeface="Arial" panose="020B0604020202020204" pitchFamily="34" charset="0"/>
                <a:ea typeface="DengXian" panose="02010600030101010101" pitchFamily="2" charset="-122"/>
                <a:cs typeface="Arial" panose="020B0604020202020204" pitchFamily="34" charset="0"/>
              </a:rPr>
              <a:t>Class inheritance can be further extended to another class from the subclass</a:t>
            </a:r>
          </a:p>
        </p:txBody>
      </p:sp>
      <p:sp>
        <p:nvSpPr>
          <p:cNvPr id="4" name="Slide Number Placeholder 3">
            <a:extLst>
              <a:ext uri="{FF2B5EF4-FFF2-40B4-BE49-F238E27FC236}">
                <a16:creationId xmlns:a16="http://schemas.microsoft.com/office/drawing/2014/main" id="{8784D7C6-3765-2E58-F03E-CEED98D68B5B}"/>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17</a:t>
            </a:fld>
            <a:endParaRPr lang="en-US" dirty="0"/>
          </a:p>
        </p:txBody>
      </p:sp>
    </p:spTree>
    <p:extLst>
      <p:ext uri="{BB962C8B-B14F-4D97-AF65-F5344CB8AC3E}">
        <p14:creationId xmlns:p14="http://schemas.microsoft.com/office/powerpoint/2010/main" val="115461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E280-2A37-461B-A9F8-ACF1DFFCA3EB}"/>
              </a:ext>
            </a:extLst>
          </p:cNvPr>
          <p:cNvSpPr>
            <a:spLocks noGrp="1"/>
          </p:cNvSpPr>
          <p:nvPr>
            <p:ph type="title"/>
          </p:nvPr>
        </p:nvSpPr>
        <p:spPr/>
        <p:txBody>
          <a:bodyPr>
            <a:normAutofit/>
          </a:bodyPr>
          <a:lstStyle/>
          <a:p>
            <a:r>
              <a:rPr lang="en-SG" sz="4000">
                <a:solidFill>
                  <a:srgbClr val="C00000"/>
                </a:solidFill>
              </a:rPr>
              <a:t>Hands-on Exercise</a:t>
            </a:r>
            <a:endParaRPr lang="en-SG" sz="4000" b="1" dirty="0">
              <a:solidFill>
                <a:srgbClr val="C00000"/>
              </a:solidFill>
            </a:endParaRPr>
          </a:p>
        </p:txBody>
      </p:sp>
      <p:sp>
        <p:nvSpPr>
          <p:cNvPr id="5" name="Content Placeholder 4">
            <a:extLst>
              <a:ext uri="{FF2B5EF4-FFF2-40B4-BE49-F238E27FC236}">
                <a16:creationId xmlns:a16="http://schemas.microsoft.com/office/drawing/2014/main" id="{16D2EA23-1860-616C-2195-AF9368ADF8D2}"/>
              </a:ext>
            </a:extLst>
          </p:cNvPr>
          <p:cNvSpPr>
            <a:spLocks noGrp="1"/>
          </p:cNvSpPr>
          <p:nvPr>
            <p:ph idx="1"/>
          </p:nvPr>
        </p:nvSpPr>
        <p:spPr/>
        <p:txBody>
          <a:bodyPr>
            <a:noAutofit/>
          </a:bodyPr>
          <a:lstStyle/>
          <a:p>
            <a:pPr marL="0" indent="0">
              <a:buNone/>
            </a:pPr>
            <a:r>
              <a:rPr lang="en-SG" sz="1400" dirty="0">
                <a:latin typeface="Courier New" panose="02070309020205020404" pitchFamily="49" charset="0"/>
                <a:cs typeface="Courier New" panose="02070309020205020404" pitchFamily="49" charset="0"/>
              </a:rPr>
              <a:t>class </a:t>
            </a:r>
            <a:r>
              <a:rPr lang="en-SG" sz="1400" dirty="0" err="1">
                <a:latin typeface="Courier New" panose="02070309020205020404" pitchFamily="49" charset="0"/>
                <a:cs typeface="Courier New" panose="02070309020205020404" pitchFamily="49" charset="0"/>
              </a:rPr>
              <a:t>ShoppingAgent</a:t>
            </a:r>
            <a:r>
              <a:rPr lang="en-SG" sz="1400" dirty="0">
                <a:latin typeface="Courier New" panose="02070309020205020404" pitchFamily="49" charset="0"/>
                <a:cs typeface="Courier New" panose="02070309020205020404" pitchFamily="49" charset="0"/>
              </a:rPr>
              <a:t>:</a:t>
            </a:r>
            <a:br>
              <a:rPr lang="en-SG" sz="1400" dirty="0">
                <a:latin typeface="Courier New" panose="02070309020205020404" pitchFamily="49" charset="0"/>
                <a:cs typeface="Courier New" panose="02070309020205020404" pitchFamily="49" charset="0"/>
              </a:rPr>
            </a:br>
            <a:r>
              <a:rPr lang="en-SG" sz="1400" dirty="0">
                <a:latin typeface="Courier New" panose="02070309020205020404" pitchFamily="49" charset="0"/>
                <a:cs typeface="Courier New" panose="02070309020205020404" pitchFamily="49" charset="0"/>
              </a:rPr>
              <a:t>	def __</a:t>
            </a:r>
            <a:r>
              <a:rPr lang="en-SG" sz="1400" dirty="0" err="1">
                <a:latin typeface="Courier New" panose="02070309020205020404" pitchFamily="49" charset="0"/>
                <a:cs typeface="Courier New" panose="02070309020205020404" pitchFamily="49" charset="0"/>
              </a:rPr>
              <a:t>init</a:t>
            </a:r>
            <a:r>
              <a:rPr lang="en-SG" sz="1400" dirty="0">
                <a:latin typeface="Courier New" panose="02070309020205020404" pitchFamily="49" charset="0"/>
                <a:cs typeface="Courier New" panose="02070309020205020404" pitchFamily="49" charset="0"/>
              </a:rPr>
              <a:t>__(self, budget):</a:t>
            </a:r>
            <a:br>
              <a:rPr lang="en-SG" sz="1400" dirty="0">
                <a:latin typeface="Courier New" panose="02070309020205020404" pitchFamily="49" charset="0"/>
                <a:cs typeface="Courier New" panose="02070309020205020404" pitchFamily="49" charset="0"/>
              </a:rPr>
            </a:br>
            <a:r>
              <a:rPr lang="en-SG" sz="1400" dirty="0">
                <a:latin typeface="Courier New" panose="02070309020205020404" pitchFamily="49" charset="0"/>
                <a:cs typeface="Courier New" panose="02070309020205020404" pitchFamily="49" charset="0"/>
              </a:rPr>
              <a:t>		</a:t>
            </a:r>
            <a:r>
              <a:rPr lang="en-SG" sz="1400" dirty="0" err="1">
                <a:latin typeface="Courier New" panose="02070309020205020404" pitchFamily="49" charset="0"/>
                <a:cs typeface="Courier New" panose="02070309020205020404" pitchFamily="49" charset="0"/>
              </a:rPr>
              <a:t>self.budget</a:t>
            </a:r>
            <a:r>
              <a:rPr lang="en-SG" sz="1400" dirty="0">
                <a:latin typeface="Courier New" panose="02070309020205020404" pitchFamily="49" charset="0"/>
                <a:cs typeface="Courier New" panose="02070309020205020404" pitchFamily="49" charset="0"/>
              </a:rPr>
              <a:t> = budget</a:t>
            </a:r>
            <a:br>
              <a:rPr lang="en-SG" sz="1400" dirty="0">
                <a:latin typeface="Courier New" panose="02070309020205020404" pitchFamily="49" charset="0"/>
                <a:cs typeface="Courier New" panose="02070309020205020404" pitchFamily="49" charset="0"/>
              </a:rPr>
            </a:br>
            <a:r>
              <a:rPr lang="en-SG" sz="1400" dirty="0">
                <a:latin typeface="Courier New" panose="02070309020205020404" pitchFamily="49" charset="0"/>
                <a:cs typeface="Courier New" panose="02070309020205020404" pitchFamily="49" charset="0"/>
              </a:rPr>
              <a:t>		</a:t>
            </a:r>
            <a:r>
              <a:rPr lang="en-SG" sz="1400" dirty="0" err="1">
                <a:latin typeface="Courier New" panose="02070309020205020404" pitchFamily="49" charset="0"/>
                <a:cs typeface="Courier New" panose="02070309020205020404" pitchFamily="49" charset="0"/>
              </a:rPr>
              <a:t>self.cart</a:t>
            </a:r>
            <a:r>
              <a:rPr lang="en-SG" sz="1400" dirty="0">
                <a:latin typeface="Courier New" panose="02070309020205020404" pitchFamily="49" charset="0"/>
                <a:cs typeface="Courier New" panose="02070309020205020404" pitchFamily="49" charset="0"/>
              </a:rPr>
              <a:t> = []</a:t>
            </a:r>
            <a:br>
              <a:rPr lang="en-SG" sz="1400" dirty="0">
                <a:latin typeface="Courier New" panose="02070309020205020404" pitchFamily="49" charset="0"/>
                <a:cs typeface="Courier New" panose="02070309020205020404" pitchFamily="49" charset="0"/>
              </a:rPr>
            </a:br>
            <a:br>
              <a:rPr lang="en-SG" sz="1400" dirty="0">
                <a:latin typeface="Courier New" panose="02070309020205020404" pitchFamily="49" charset="0"/>
                <a:cs typeface="Courier New" panose="02070309020205020404" pitchFamily="49" charset="0"/>
              </a:rPr>
            </a:br>
            <a:r>
              <a:rPr lang="en-SG" sz="1400" dirty="0">
                <a:latin typeface="Courier New" panose="02070309020205020404" pitchFamily="49" charset="0"/>
                <a:cs typeface="Courier New" panose="02070309020205020404" pitchFamily="49" charset="0"/>
              </a:rPr>
              <a:t>	def </a:t>
            </a:r>
            <a:r>
              <a:rPr lang="en-SG" sz="1400" dirty="0" err="1">
                <a:latin typeface="Courier New" panose="02070309020205020404" pitchFamily="49" charset="0"/>
                <a:cs typeface="Courier New" panose="02070309020205020404" pitchFamily="49" charset="0"/>
              </a:rPr>
              <a:t>add_to_cart</a:t>
            </a:r>
            <a:r>
              <a:rPr lang="en-SG" sz="1400" dirty="0">
                <a:latin typeface="Courier New" panose="02070309020205020404" pitchFamily="49" charset="0"/>
                <a:cs typeface="Courier New" panose="02070309020205020404" pitchFamily="49" charset="0"/>
              </a:rPr>
              <a:t>(self, item, price):</a:t>
            </a:r>
            <a:br>
              <a:rPr lang="en-SG" sz="1400" dirty="0">
                <a:latin typeface="Courier New" panose="02070309020205020404" pitchFamily="49" charset="0"/>
                <a:cs typeface="Courier New" panose="02070309020205020404" pitchFamily="49" charset="0"/>
              </a:rPr>
            </a:br>
            <a:r>
              <a:rPr lang="en-SG" sz="1400" dirty="0">
                <a:latin typeface="Courier New" panose="02070309020205020404" pitchFamily="49" charset="0"/>
                <a:cs typeface="Courier New" panose="02070309020205020404" pitchFamily="49" charset="0"/>
              </a:rPr>
              <a:t>		if price &lt;= </a:t>
            </a:r>
            <a:r>
              <a:rPr lang="en-SG" sz="1400" dirty="0" err="1">
                <a:latin typeface="Courier New" panose="02070309020205020404" pitchFamily="49" charset="0"/>
                <a:cs typeface="Courier New" panose="02070309020205020404" pitchFamily="49" charset="0"/>
              </a:rPr>
              <a:t>self.budget</a:t>
            </a:r>
            <a:r>
              <a:rPr lang="en-SG" sz="1400" dirty="0">
                <a:latin typeface="Courier New" panose="02070309020205020404" pitchFamily="49" charset="0"/>
                <a:cs typeface="Courier New" panose="02070309020205020404" pitchFamily="49" charset="0"/>
              </a:rPr>
              <a:t>:</a:t>
            </a:r>
            <a:br>
              <a:rPr lang="en-SG" sz="1400" dirty="0">
                <a:latin typeface="Courier New" panose="02070309020205020404" pitchFamily="49" charset="0"/>
                <a:cs typeface="Courier New" panose="02070309020205020404" pitchFamily="49" charset="0"/>
              </a:rPr>
            </a:br>
            <a:r>
              <a:rPr lang="en-SG" sz="1400" dirty="0">
                <a:latin typeface="Courier New" panose="02070309020205020404" pitchFamily="49" charset="0"/>
                <a:cs typeface="Courier New" panose="02070309020205020404" pitchFamily="49" charset="0"/>
              </a:rPr>
              <a:t>		</a:t>
            </a:r>
            <a:r>
              <a:rPr lang="en-SG" sz="1400" dirty="0" err="1">
                <a:latin typeface="Courier New" panose="02070309020205020404" pitchFamily="49" charset="0"/>
                <a:cs typeface="Courier New" panose="02070309020205020404" pitchFamily="49" charset="0"/>
              </a:rPr>
              <a:t>self.cart.append</a:t>
            </a:r>
            <a:r>
              <a:rPr lang="en-SG" sz="1400" dirty="0">
                <a:latin typeface="Courier New" panose="02070309020205020404" pitchFamily="49" charset="0"/>
                <a:cs typeface="Courier New" panose="02070309020205020404" pitchFamily="49" charset="0"/>
              </a:rPr>
              <a:t>(item)</a:t>
            </a:r>
            <a:br>
              <a:rPr lang="en-SG" sz="1400" dirty="0">
                <a:latin typeface="Courier New" panose="02070309020205020404" pitchFamily="49" charset="0"/>
                <a:cs typeface="Courier New" panose="02070309020205020404" pitchFamily="49" charset="0"/>
              </a:rPr>
            </a:br>
            <a:r>
              <a:rPr lang="en-SG" sz="1400" dirty="0">
                <a:latin typeface="Courier New" panose="02070309020205020404" pitchFamily="49" charset="0"/>
                <a:cs typeface="Courier New" panose="02070309020205020404" pitchFamily="49" charset="0"/>
              </a:rPr>
              <a:t>		</a:t>
            </a:r>
            <a:r>
              <a:rPr lang="en-SG" sz="1400" dirty="0" err="1">
                <a:latin typeface="Courier New" panose="02070309020205020404" pitchFamily="49" charset="0"/>
                <a:cs typeface="Courier New" panose="02070309020205020404" pitchFamily="49" charset="0"/>
              </a:rPr>
              <a:t>self.budget</a:t>
            </a:r>
            <a:r>
              <a:rPr lang="en-SG" sz="1400" dirty="0">
                <a:latin typeface="Courier New" panose="02070309020205020404" pitchFamily="49" charset="0"/>
                <a:cs typeface="Courier New" panose="02070309020205020404" pitchFamily="49" charset="0"/>
              </a:rPr>
              <a:t> -= price</a:t>
            </a:r>
            <a:br>
              <a:rPr lang="en-SG" sz="1400" dirty="0">
                <a:latin typeface="Courier New" panose="02070309020205020404" pitchFamily="49" charset="0"/>
                <a:cs typeface="Courier New" panose="02070309020205020404" pitchFamily="49" charset="0"/>
              </a:rPr>
            </a:br>
            <a:r>
              <a:rPr lang="en-SG" sz="1400" dirty="0">
                <a:latin typeface="Courier New" panose="02070309020205020404" pitchFamily="49" charset="0"/>
                <a:cs typeface="Courier New" panose="02070309020205020404" pitchFamily="49" charset="0"/>
              </a:rPr>
              <a:t>		print(</a:t>
            </a:r>
            <a:r>
              <a:rPr lang="en-SG" sz="1400" dirty="0" err="1">
                <a:latin typeface="Courier New" panose="02070309020205020404" pitchFamily="49" charset="0"/>
                <a:cs typeface="Courier New" panose="02070309020205020404" pitchFamily="49" charset="0"/>
              </a:rPr>
              <a:t>f"Added</a:t>
            </a:r>
            <a:r>
              <a:rPr lang="en-SG" sz="1400" dirty="0">
                <a:latin typeface="Courier New" panose="02070309020205020404" pitchFamily="49" charset="0"/>
                <a:cs typeface="Courier New" panose="02070309020205020404" pitchFamily="49" charset="0"/>
              </a:rPr>
              <a:t> {item} to cart. Remaining budget: ${</a:t>
            </a:r>
            <a:r>
              <a:rPr lang="en-SG" sz="1400" dirty="0" err="1">
                <a:latin typeface="Courier New" panose="02070309020205020404" pitchFamily="49" charset="0"/>
                <a:cs typeface="Courier New" panose="02070309020205020404" pitchFamily="49" charset="0"/>
              </a:rPr>
              <a:t>self.budget</a:t>
            </a:r>
            <a:r>
              <a:rPr lang="en-SG" sz="1400" dirty="0">
                <a:latin typeface="Courier New" panose="02070309020205020404" pitchFamily="49" charset="0"/>
                <a:cs typeface="Courier New" panose="02070309020205020404" pitchFamily="49" charset="0"/>
              </a:rPr>
              <a:t>}")</a:t>
            </a:r>
            <a:br>
              <a:rPr lang="en-SG" sz="1400" dirty="0">
                <a:latin typeface="Courier New" panose="02070309020205020404" pitchFamily="49" charset="0"/>
                <a:cs typeface="Courier New" panose="02070309020205020404" pitchFamily="49" charset="0"/>
              </a:rPr>
            </a:br>
            <a:r>
              <a:rPr lang="en-SG" sz="1400" dirty="0">
                <a:latin typeface="Courier New" panose="02070309020205020404" pitchFamily="49" charset="0"/>
                <a:cs typeface="Courier New" panose="02070309020205020404" pitchFamily="49" charset="0"/>
              </a:rPr>
              <a:t>	else:</a:t>
            </a:r>
            <a:br>
              <a:rPr lang="en-SG" sz="1400" dirty="0">
                <a:latin typeface="Courier New" panose="02070309020205020404" pitchFamily="49" charset="0"/>
                <a:cs typeface="Courier New" panose="02070309020205020404" pitchFamily="49" charset="0"/>
              </a:rPr>
            </a:br>
            <a:r>
              <a:rPr lang="en-SG" sz="1400" dirty="0">
                <a:latin typeface="Courier New" panose="02070309020205020404" pitchFamily="49" charset="0"/>
                <a:cs typeface="Courier New" panose="02070309020205020404" pitchFamily="49" charset="0"/>
              </a:rPr>
              <a:t>	print(</a:t>
            </a:r>
            <a:r>
              <a:rPr lang="en-SG" sz="1400" dirty="0" err="1">
                <a:latin typeface="Courier New" panose="02070309020205020404" pitchFamily="49" charset="0"/>
                <a:cs typeface="Courier New" panose="02070309020205020404" pitchFamily="49" charset="0"/>
              </a:rPr>
              <a:t>f"Cannot</a:t>
            </a:r>
            <a:r>
              <a:rPr lang="en-SG" sz="1400" dirty="0">
                <a:latin typeface="Courier New" panose="02070309020205020404" pitchFamily="49" charset="0"/>
                <a:cs typeface="Courier New" panose="02070309020205020404" pitchFamily="49" charset="0"/>
              </a:rPr>
              <a:t> add {item}. Budget exceeded.")</a:t>
            </a:r>
            <a:br>
              <a:rPr lang="en-SG" sz="1400" dirty="0">
                <a:latin typeface="Courier New" panose="02070309020205020404" pitchFamily="49" charset="0"/>
                <a:cs typeface="Courier New" panose="02070309020205020404" pitchFamily="49" charset="0"/>
              </a:rPr>
            </a:br>
            <a:br>
              <a:rPr lang="en-SG" sz="1400" dirty="0">
                <a:latin typeface="Courier New" panose="02070309020205020404" pitchFamily="49" charset="0"/>
                <a:cs typeface="Courier New" panose="02070309020205020404" pitchFamily="49" charset="0"/>
              </a:rPr>
            </a:br>
            <a:r>
              <a:rPr lang="en-SG" sz="1400" dirty="0">
                <a:latin typeface="Courier New" panose="02070309020205020404" pitchFamily="49" charset="0"/>
                <a:cs typeface="Courier New" panose="02070309020205020404" pitchFamily="49" charset="0"/>
              </a:rPr>
              <a:t># Instantiate and interact with the agent</a:t>
            </a:r>
            <a:br>
              <a:rPr lang="en-SG" sz="1400" dirty="0">
                <a:latin typeface="Courier New" panose="02070309020205020404" pitchFamily="49" charset="0"/>
                <a:cs typeface="Courier New" panose="02070309020205020404" pitchFamily="49" charset="0"/>
              </a:rPr>
            </a:br>
            <a:r>
              <a:rPr lang="en-SG" sz="1400" dirty="0" err="1">
                <a:latin typeface="Courier New" panose="02070309020205020404" pitchFamily="49" charset="0"/>
                <a:cs typeface="Courier New" panose="02070309020205020404" pitchFamily="49" charset="0"/>
              </a:rPr>
              <a:t>agent</a:t>
            </a:r>
            <a:r>
              <a:rPr lang="en-SG" sz="1400" dirty="0">
                <a:latin typeface="Courier New" panose="02070309020205020404" pitchFamily="49" charset="0"/>
                <a:cs typeface="Courier New" panose="02070309020205020404" pitchFamily="49" charset="0"/>
              </a:rPr>
              <a:t> = </a:t>
            </a:r>
            <a:r>
              <a:rPr lang="en-SG" sz="1400" dirty="0" err="1">
                <a:latin typeface="Courier New" panose="02070309020205020404" pitchFamily="49" charset="0"/>
                <a:cs typeface="Courier New" panose="02070309020205020404" pitchFamily="49" charset="0"/>
              </a:rPr>
              <a:t>ShoppingAgent</a:t>
            </a:r>
            <a:r>
              <a:rPr lang="en-SG" sz="1400" dirty="0">
                <a:latin typeface="Courier New" panose="02070309020205020404" pitchFamily="49" charset="0"/>
                <a:cs typeface="Courier New" panose="02070309020205020404" pitchFamily="49" charset="0"/>
              </a:rPr>
              <a:t>(50)</a:t>
            </a:r>
            <a:br>
              <a:rPr lang="en-SG" sz="1400" dirty="0">
                <a:latin typeface="Courier New" panose="02070309020205020404" pitchFamily="49" charset="0"/>
                <a:cs typeface="Courier New" panose="02070309020205020404" pitchFamily="49" charset="0"/>
              </a:rPr>
            </a:br>
            <a:r>
              <a:rPr lang="en-SG" sz="1400" dirty="0" err="1">
                <a:latin typeface="Courier New" panose="02070309020205020404" pitchFamily="49" charset="0"/>
                <a:cs typeface="Courier New" panose="02070309020205020404" pitchFamily="49" charset="0"/>
              </a:rPr>
              <a:t>agent.add_to_cart</a:t>
            </a:r>
            <a:r>
              <a:rPr lang="en-SG" sz="1400" dirty="0">
                <a:latin typeface="Courier New" panose="02070309020205020404" pitchFamily="49" charset="0"/>
                <a:cs typeface="Courier New" panose="02070309020205020404" pitchFamily="49" charset="0"/>
              </a:rPr>
              <a:t>("Milk", 5)</a:t>
            </a:r>
            <a:br>
              <a:rPr lang="en-SG" sz="1400" dirty="0">
                <a:latin typeface="Courier New" panose="02070309020205020404" pitchFamily="49" charset="0"/>
                <a:cs typeface="Courier New" panose="02070309020205020404" pitchFamily="49" charset="0"/>
              </a:rPr>
            </a:br>
            <a:r>
              <a:rPr lang="en-SG" sz="1400" dirty="0" err="1">
                <a:latin typeface="Courier New" panose="02070309020205020404" pitchFamily="49" charset="0"/>
                <a:cs typeface="Courier New" panose="02070309020205020404" pitchFamily="49" charset="0"/>
              </a:rPr>
              <a:t>agent.add_to_cart</a:t>
            </a:r>
            <a:r>
              <a:rPr lang="en-SG" sz="1400" dirty="0">
                <a:latin typeface="Courier New" panose="02070309020205020404" pitchFamily="49" charset="0"/>
                <a:cs typeface="Courier New" panose="02070309020205020404" pitchFamily="49" charset="0"/>
              </a:rPr>
              <a:t>("Laptop", 45) # This will exceed budget</a:t>
            </a:r>
            <a:endParaRPr lang="en-SG" sz="1400" dirty="0">
              <a:solidFill>
                <a:srgbClr val="373A3C"/>
              </a:solidFill>
              <a:effectLst/>
              <a:latin typeface="Courier New" panose="02070309020205020404" pitchFamily="49" charset="0"/>
              <a:ea typeface="DengXian" panose="02010600030101010101" pitchFamily="2" charset="-122"/>
              <a:cs typeface="Courier New" panose="02070309020205020404" pitchFamily="49" charset="0"/>
            </a:endParaRPr>
          </a:p>
          <a:p>
            <a:endParaRPr lang="en-SG" sz="1400" dirty="0">
              <a:solidFill>
                <a:srgbClr val="373A3C"/>
              </a:solidFill>
              <a:latin typeface="Courier New" panose="02070309020205020404" pitchFamily="49" charset="0"/>
              <a:ea typeface="DengXian" panose="02010600030101010101" pitchFamily="2" charset="-122"/>
              <a:cs typeface="Courier New" panose="02070309020205020404" pitchFamily="49" charset="0"/>
            </a:endParaRPr>
          </a:p>
          <a:p>
            <a:pPr marL="0" indent="0">
              <a:buNone/>
            </a:pPr>
            <a:endParaRPr lang="en-SG" sz="1400"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F8D19DFC-AC32-01B5-83E0-D60A416FDDD8}"/>
              </a:ext>
            </a:extLst>
          </p:cNvPr>
          <p:cNvSpPr>
            <a:spLocks noGrp="1"/>
          </p:cNvSpPr>
          <p:nvPr>
            <p:ph type="sldNum" sz="quarter" idx="4"/>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baseline="0">
                <a:solidFill>
                  <a:srgbClr val="FFFF00"/>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E6562B1-0B0F-0246-9532-09536BC2AE59}" type="slidenum">
              <a:rPr lang="en-US" smtClean="0"/>
              <a:pPr/>
              <a:t>18</a:t>
            </a:fld>
            <a:endParaRPr lang="en-US" dirty="0"/>
          </a:p>
        </p:txBody>
      </p:sp>
      <p:pic>
        <p:nvPicPr>
          <p:cNvPr id="6" name="Picture 5">
            <a:extLst>
              <a:ext uri="{FF2B5EF4-FFF2-40B4-BE49-F238E27FC236}">
                <a16:creationId xmlns:a16="http://schemas.microsoft.com/office/drawing/2014/main" id="{0D43E659-1EA2-47DE-F2F8-414E2147EF4F}"/>
              </a:ext>
            </a:extLst>
          </p:cNvPr>
          <p:cNvPicPr>
            <a:picLocks noChangeAspect="1"/>
          </p:cNvPicPr>
          <p:nvPr/>
        </p:nvPicPr>
        <p:blipFill>
          <a:blip r:embed="rId3"/>
          <a:stretch>
            <a:fillRect/>
          </a:stretch>
        </p:blipFill>
        <p:spPr>
          <a:xfrm>
            <a:off x="12192000" y="2532231"/>
            <a:ext cx="5334462" cy="3444538"/>
          </a:xfrm>
          <a:prstGeom prst="rect">
            <a:avLst/>
          </a:prstGeom>
        </p:spPr>
      </p:pic>
    </p:spTree>
    <p:extLst>
      <p:ext uri="{BB962C8B-B14F-4D97-AF65-F5344CB8AC3E}">
        <p14:creationId xmlns:p14="http://schemas.microsoft.com/office/powerpoint/2010/main" val="3700461042"/>
      </p:ext>
    </p:extLst>
  </p:cSld>
  <p:clrMapOvr>
    <a:masterClrMapping/>
  </p:clrMapOvr>
</p:sld>
</file>

<file path=ppt/theme/theme1.xml><?xml version="1.0" encoding="utf-8"?>
<a:theme xmlns:a="http://schemas.openxmlformats.org/drawingml/2006/main" name="1_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39835</TotalTime>
  <Words>1782</Words>
  <Application>Microsoft Office PowerPoint</Application>
  <PresentationFormat>Widescreen</PresentationFormat>
  <Paragraphs>240</Paragraphs>
  <Slides>18</Slides>
  <Notes>17</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inherit</vt:lpstr>
      <vt:lpstr>Arial</vt:lpstr>
      <vt:lpstr>Calibri</vt:lpstr>
      <vt:lpstr>Century Schoolbook</vt:lpstr>
      <vt:lpstr>Courier New</vt:lpstr>
      <vt:lpstr>Noto serif</vt:lpstr>
      <vt:lpstr>Wingdings 2</vt:lpstr>
      <vt:lpstr>1_View</vt:lpstr>
      <vt:lpstr>  Python Class  (Objects, Methods, Inheritance)   </vt:lpstr>
      <vt:lpstr>Class and Object</vt:lpstr>
      <vt:lpstr>Class</vt:lpstr>
      <vt:lpstr>Python’s Class</vt:lpstr>
      <vt:lpstr>Attributes</vt:lpstr>
      <vt:lpstr>Object and Class Instance</vt:lpstr>
      <vt:lpstr>Modifying an Instance</vt:lpstr>
      <vt:lpstr>Adding Custom Method </vt:lpstr>
      <vt:lpstr>Private Attribute</vt:lpstr>
      <vt:lpstr>Aside: Private vs Protected</vt:lpstr>
      <vt:lpstr>Aside: Dunder Methods</vt:lpstr>
      <vt:lpstr>Finger Exercise: _ _add_ _ magic method</vt:lpstr>
      <vt:lpstr>Class Abstraction</vt:lpstr>
      <vt:lpstr>Class Inheritance</vt:lpstr>
      <vt:lpstr>Class Inheritance – Superclass</vt:lpstr>
      <vt:lpstr>Class Inheritance – Subclass</vt:lpstr>
      <vt:lpstr>Summary</vt:lpstr>
      <vt:lpstr>Hands-on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computing</dc:title>
  <dc:creator>Oh Hong Lye</dc:creator>
  <cp:lastModifiedBy>Vun Chan Hua, Nicholas (Assoc Prof)</cp:lastModifiedBy>
  <cp:revision>548</cp:revision>
  <cp:lastPrinted>2025-12-02T03:37:26Z</cp:lastPrinted>
  <dcterms:created xsi:type="dcterms:W3CDTF">2017-12-07T06:41:50Z</dcterms:created>
  <dcterms:modified xsi:type="dcterms:W3CDTF">2025-12-02T03:37:50Z</dcterms:modified>
</cp:coreProperties>
</file>